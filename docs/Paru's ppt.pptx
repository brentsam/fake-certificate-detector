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8.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N" sz="1400" b="0" u="none" strike="noStrike">
                <a:solidFill>
                  <a:srgbClr val="000000"/>
                </a:solidFill>
                <a:effectLst/>
                <a:uFillTx/>
                <a:latin typeface="Times New Roman"/>
              </a:rPr>
              <a:t>&lt;header&gt;</a:t>
            </a:r>
            <a:endParaRPr lang="en-IN"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096F568D-8387-4EFD-9803-3BFE2FB4A2EA}" type="slidenum">
              <a:rPr lang="en-IN"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1143000" y="685800"/>
            <a:ext cx="4571640" cy="3428640"/>
          </a:xfrm>
          <a:prstGeom prst="rect">
            <a:avLst/>
          </a:prstGeom>
          <a:ln w="0">
            <a:noFill/>
          </a:ln>
        </p:spPr>
      </p:sp>
      <p:sp>
        <p:nvSpPr>
          <p:cNvPr id="18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SPEAKER NOTES &amp; PRESENTATION SCRIPT: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Good morning respected members of the evaluation committee. Today, I am presenting my project, 'Public Health Analytics &amp; Predictive Modeling'. In this project, I have built an analytical and predictive pipeline using Python to inspect historical healthcare records across eight Indian states over a four-year period. By investigating spatial, seasonal, and environmental parameters, I formulated a composite Health Vulnerability Index, clustered regional risks using K-Means, and trained a Random Forest model to predict disease caseloads with high accuracy. Let us move to the abstract.</a:t>
            </a:r>
            <a:endParaRPr lang="en-IN" sz="2000" b="0" u="none" strike="noStrike">
              <a:solidFill>
                <a:srgbClr val="000000"/>
              </a:solidFill>
              <a:effectLst/>
              <a:uFillTx/>
              <a:latin typeface="Arial"/>
            </a:endParaRPr>
          </a:p>
        </p:txBody>
      </p:sp>
      <p:sp>
        <p:nvSpPr>
          <p:cNvPr id="186"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C5B034D-BB75-4730-B7F8-E5864E6B5BD3}"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1143000" y="685800"/>
            <a:ext cx="4571640" cy="3428640"/>
          </a:xfrm>
          <a:prstGeom prst="rect">
            <a:avLst/>
          </a:prstGeom>
          <a:ln w="0">
            <a:noFill/>
          </a:ln>
        </p:spPr>
      </p:sp>
      <p:sp>
        <p:nvSpPr>
          <p:cNvPr id="18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SPEAKER NOTES &amp; PRESENTATION SCRIPT: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This slide presents the abstract of the project. It summarizes the entire study: our context, methodology, and key results. We analyze a panel of 384 records across 8 Indian states. Our key finding is that vaccination acts as a strong protective shield while AQI increases outbreaks. The HVI index ranks regional vulnerabilities, K-Means clusters risk levels, and the Random Forest model achieves a high predictive score of 95.7% accuracy.</a:t>
            </a:r>
            <a:endParaRPr lang="en-IN" sz="2000" b="0" u="none" strike="noStrike">
              <a:solidFill>
                <a:srgbClr val="000000"/>
              </a:solidFill>
              <a:effectLst/>
              <a:uFillTx/>
              <a:latin typeface="Arial"/>
            </a:endParaRPr>
          </a:p>
        </p:txBody>
      </p:sp>
      <p:sp>
        <p:nvSpPr>
          <p:cNvPr id="189"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589B103-CC58-44BC-8521-E33FF390CDEE}"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1143000" y="685800"/>
            <a:ext cx="4571640" cy="3428640"/>
          </a:xfrm>
          <a:prstGeom prst="rect">
            <a:avLst/>
          </a:prstGeom>
          <a:ln w="0">
            <a:noFill/>
          </a:ln>
        </p:spPr>
      </p:sp>
      <p:sp>
        <p:nvSpPr>
          <p:cNvPr id="19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SPEAKER NOTES &amp; PRESENTATION SCRIPT: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Our presentation is structured around achieving these seven core objectives. We begin with general exploratory correlation analysis, proceed to temporal and geographic trends, construct our customized Health Vulnerability Index, execute unsupervised risk clustering using K-Means, and finally train a predictive Random Forest model to warn health departments of upcoming surges.</a:t>
            </a:r>
            <a:endParaRPr lang="en-IN" sz="2000" b="0" u="none" strike="noStrike">
              <a:solidFill>
                <a:srgbClr val="000000"/>
              </a:solidFill>
              <a:effectLst/>
              <a:uFillTx/>
              <a:latin typeface="Arial"/>
            </a:endParaRPr>
          </a:p>
        </p:txBody>
      </p:sp>
      <p:sp>
        <p:nvSpPr>
          <p:cNvPr id="192"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94CE898-7811-4015-BD0F-310D11AA5EF6}"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1143000" y="685800"/>
            <a:ext cx="4571640" cy="3428640"/>
          </a:xfrm>
          <a:prstGeom prst="rect">
            <a:avLst/>
          </a:prstGeom>
          <a:ln w="0">
            <a:noFill/>
          </a:ln>
        </p:spPr>
      </p:sp>
      <p:sp>
        <p:nvSpPr>
          <p:cNvPr id="19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SPEAKER NOTES &amp; PRESENTATION SCRIPT: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To run this data pipeline and reproduce our analytics, specific software and hardware setups are required. For software, we use Python 3.8 or above along with the standard data science libraries: pandas, numpy, scikit-learn for models, matplotlib and seaborn for visualization, and python-pptx for building this deck. Hardware requirements are minimal: any standard system with at least 4 gigabytes of RAM and 500 megabytes of disk space is sufficient to execute the pipeline in seconds.</a:t>
            </a:r>
            <a:endParaRPr lang="en-IN" sz="2000" b="0" u="none" strike="noStrike">
              <a:solidFill>
                <a:srgbClr val="000000"/>
              </a:solidFill>
              <a:effectLst/>
              <a:uFillTx/>
              <a:latin typeface="Arial"/>
            </a:endParaRPr>
          </a:p>
        </p:txBody>
      </p:sp>
      <p:sp>
        <p:nvSpPr>
          <p:cNvPr id="195"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F51A233-CAF4-41F7-8E7E-AA4A9EBAF9F1}"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1143000" y="685800"/>
            <a:ext cx="4571640" cy="3428640"/>
          </a:xfrm>
          <a:prstGeom prst="rect">
            <a:avLst/>
          </a:prstGeom>
          <a:ln w="0">
            <a:noFill/>
          </a:ln>
        </p:spPr>
      </p:sp>
      <p:sp>
        <p:nvSpPr>
          <p:cNvPr id="19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SPEAKER NOTES &amp; PRESENTATION SCRIPT: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Before building our models, we audited the data profile. The dataset is a balanced panel containing 384 state-month observations from 2022 to 2025. It covers 10 features. Data cleaning showed that the records contain no null elements or duplicate rows, ensuring robust inputs. On average, we observe about 2,424 cases per state-month, a 64.95% vaccination rate, and an average AQI of 142.49.</a:t>
            </a:r>
            <a:endParaRPr lang="en-IN" sz="2000" b="0" u="none" strike="noStrike">
              <a:solidFill>
                <a:srgbClr val="000000"/>
              </a:solidFill>
              <a:effectLst/>
              <a:uFillTx/>
              <a:latin typeface="Arial"/>
            </a:endParaRPr>
          </a:p>
        </p:txBody>
      </p:sp>
      <p:sp>
        <p:nvSpPr>
          <p:cNvPr id="198"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98BD598-66E2-4C0A-B273-C5989AE6CC71}"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1143000" y="685800"/>
            <a:ext cx="4571640" cy="3428640"/>
          </a:xfrm>
          <a:prstGeom prst="rect">
            <a:avLst/>
          </a:prstGeom>
          <a:ln w="0">
            <a:noFill/>
          </a:ln>
        </p:spPr>
      </p:sp>
      <p:sp>
        <p:nvSpPr>
          <p:cNvPr id="20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SPEAKER NOTES &amp; PRESENTATION SCRIPT: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For database design, we mapped the flat dataset into a normalized relational schema to avoid redundancy. We have two entities: tbl_States which holds the state attributes, and tbl_Metrics which stores the monthly time-series health and air quality records. There is a one-to-many relationship between States and Metrics because each state has multiple monthly records over the four-year study period.</a:t>
            </a:r>
            <a:endParaRPr lang="en-IN" sz="2000" b="0" u="none" strike="noStrike">
              <a:solidFill>
                <a:srgbClr val="000000"/>
              </a:solidFill>
              <a:effectLst/>
              <a:uFillTx/>
              <a:latin typeface="Arial"/>
            </a:endParaRPr>
          </a:p>
        </p:txBody>
      </p:sp>
      <p:sp>
        <p:nvSpPr>
          <p:cNvPr id="201"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12656C0-7B17-40DE-B327-B7572CC59C61}"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1143000" y="685800"/>
            <a:ext cx="4571640" cy="3428640"/>
          </a:xfrm>
          <a:prstGeom prst="rect">
            <a:avLst/>
          </a:prstGeom>
          <a:ln w="0">
            <a:noFill/>
          </a:ln>
        </p:spPr>
      </p:sp>
      <p:sp>
        <p:nvSpPr>
          <p:cNvPr id="20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SPEAKER NOTES &amp; PRESENTATION SCRIPT: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A key contribution of this project is the Health Vulnerability Index (HVI). Instead of analyzing variables in isolation, we designed an HVI metric using a weighted scoring model. It assigns 40% weight to scaled active cases, 30% to scaled mortality, 20% to the unvaccinated percentage, and 10% to the bed deficit. This index gives public health administrators a simple, data-backed value between 0 and 1 to compare states.</a:t>
            </a:r>
            <a:endParaRPr lang="en-IN" sz="2000" b="0" u="none" strike="noStrike">
              <a:solidFill>
                <a:srgbClr val="000000"/>
              </a:solidFill>
              <a:effectLst/>
              <a:uFillTx/>
              <a:latin typeface="Arial"/>
            </a:endParaRPr>
          </a:p>
        </p:txBody>
      </p:sp>
      <p:sp>
        <p:nvSpPr>
          <p:cNvPr id="204"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E9E1EA6-5F28-4EE5-90D8-CB397E463882}"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sldImg"/>
          </p:nvPr>
        </p:nvSpPr>
        <p:spPr>
          <a:xfrm>
            <a:off x="1143000" y="685800"/>
            <a:ext cx="4571640" cy="3428640"/>
          </a:xfrm>
          <a:prstGeom prst="rect">
            <a:avLst/>
          </a:prstGeom>
          <a:ln w="0">
            <a:noFill/>
          </a:ln>
        </p:spPr>
      </p:sp>
      <p:sp>
        <p:nvSpPr>
          <p:cNvPr id="20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SPEAKER NOTES &amp; PRESENTATION SCRIPT: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Here is the Correlation Heatmap, addressing our first objective. Looking at the values, the strongest correlation with Disease Cases is Vaccination Rate at negative 0.81. This is a very strong negative linear relationship, proving vaccination's direct effect. Meanwhile, AQI holds a positive 0.68 correlation with disease cases. This supports the hypothesis that air pollution acts as an environmental catalyst for health complications.</a:t>
            </a:r>
            <a:endParaRPr lang="en-IN" sz="2000" b="0" u="none" strike="noStrike">
              <a:solidFill>
                <a:srgbClr val="000000"/>
              </a:solidFill>
              <a:effectLst/>
              <a:uFillTx/>
              <a:latin typeface="Arial"/>
            </a:endParaRPr>
          </a:p>
        </p:txBody>
      </p:sp>
      <p:sp>
        <p:nvSpPr>
          <p:cNvPr id="207"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76EA37A-916D-49BD-9D66-86A07A189683}"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sldImg"/>
          </p:nvPr>
        </p:nvSpPr>
        <p:spPr>
          <a:xfrm>
            <a:off x="1143000" y="685800"/>
            <a:ext cx="4571640" cy="3428640"/>
          </a:xfrm>
          <a:prstGeom prst="rect">
            <a:avLst/>
          </a:prstGeom>
          <a:ln w="0">
            <a:noFill/>
          </a:ln>
        </p:spPr>
      </p:sp>
      <p:sp>
        <p:nvSpPr>
          <p:cNvPr id="20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SPEAKER NOTES &amp; PRESENTATION SCRIPT: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Addressing Objective 2, this line plot shows average disease cases by month. We see a clear, highly visible cyclical pattern. Caseloads surge in the middle of the year (June to August), which corresponds to the monsoon season when waterborne and vector-borne infections spike. By knowing this seasonal curve, healthcare systems can plan hospital bed capacity, staff schedules, and drug distribution months in advance.</a:t>
            </a:r>
            <a:endParaRPr lang="en-IN" sz="2000" b="0" u="none" strike="noStrike">
              <a:solidFill>
                <a:srgbClr val="000000"/>
              </a:solidFill>
              <a:effectLst/>
              <a:uFillTx/>
              <a:latin typeface="Arial"/>
            </a:endParaRPr>
          </a:p>
        </p:txBody>
      </p:sp>
      <p:sp>
        <p:nvSpPr>
          <p:cNvPr id="210"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5A99F60-EB8F-47A0-AD87-91A386D41C6D}"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1143000" y="685800"/>
            <a:ext cx="4571640" cy="3428640"/>
          </a:xfrm>
          <a:prstGeom prst="rect">
            <a:avLst/>
          </a:prstGeom>
          <a:ln w="0">
            <a:noFill/>
          </a:ln>
        </p:spPr>
      </p:sp>
      <p:sp>
        <p:nvSpPr>
          <p:cNvPr id="21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SPEAKER NOTES &amp; PRESENTATION SCRIPT: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For Objective 3, this horizontal bar chart compares the average caseload across the eight states. West Bengal and Maharashtra show the highest average cases, which is highly linked to their massive population densities and urban centers. Kerala and Tamil Nadu demonstrate much lower caseloads, which suggests strong public health infrastructure. This geographic breakdown helps allocate medical resources where they are needed most.</a:t>
            </a:r>
            <a:endParaRPr lang="en-IN" sz="2000" b="0" u="none" strike="noStrike">
              <a:solidFill>
                <a:srgbClr val="000000"/>
              </a:solidFill>
              <a:effectLst/>
              <a:uFillTx/>
              <a:latin typeface="Arial"/>
            </a:endParaRPr>
          </a:p>
        </p:txBody>
      </p:sp>
      <p:sp>
        <p:nvSpPr>
          <p:cNvPr id="213"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7444FA6-B433-43CA-B172-98C13E7F132F}"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sldImg"/>
          </p:nvPr>
        </p:nvSpPr>
        <p:spPr>
          <a:xfrm>
            <a:off x="1143000" y="685800"/>
            <a:ext cx="4571640" cy="3428640"/>
          </a:xfrm>
          <a:prstGeom prst="rect">
            <a:avLst/>
          </a:prstGeom>
          <a:ln w="0">
            <a:noFill/>
          </a:ln>
        </p:spPr>
      </p:sp>
      <p:sp>
        <p:nvSpPr>
          <p:cNvPr id="21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SPEAKER NOTES &amp; PRESENTATION SCRIPT: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Objective 4 analyzes vaccination impact. This scatter plot maps the vaccination rate on the X-axis against disease cases on the Y-axis. The negative trend is striking. Notice that once a state-month vaccination rate crosses 75%, disease cases are capped at very low numbers. Conversely, when vaccination falls below 50%, we see a high concentration of severe outbreaks. This underscores the need to achieve herd immunity thresholds.</a:t>
            </a:r>
            <a:endParaRPr lang="en-IN" sz="2000" b="0" u="none" strike="noStrike">
              <a:solidFill>
                <a:srgbClr val="000000"/>
              </a:solidFill>
              <a:effectLst/>
              <a:uFillTx/>
              <a:latin typeface="Arial"/>
            </a:endParaRPr>
          </a:p>
        </p:txBody>
      </p:sp>
      <p:sp>
        <p:nvSpPr>
          <p:cNvPr id="216"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623BA56-336A-4B7D-899C-DEBE3C66C45A}"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sldImg"/>
          </p:nvPr>
        </p:nvSpPr>
        <p:spPr>
          <a:xfrm>
            <a:off x="1143000" y="685800"/>
            <a:ext cx="4571640" cy="3428640"/>
          </a:xfrm>
          <a:prstGeom prst="rect">
            <a:avLst/>
          </a:prstGeom>
          <a:ln w="0">
            <a:noFill/>
          </a:ln>
        </p:spPr>
      </p:sp>
      <p:sp>
        <p:nvSpPr>
          <p:cNvPr id="21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SPEAKER NOTES &amp; PRESENTATION SCRIPT: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Objective 5 explores the environmental link. This scatter plot shows AQI against disease cases. The positive relationship is clear: as AQI worsens, disease cases climb. When AQI exceeds 180 (poor air quality), we see a major cluster of heavy outbreaks. This indicates that air pollution has direct health consequences, and highlights that clean air initiatives are essential preventive healthcare tools.</a:t>
            </a:r>
            <a:endParaRPr lang="en-IN" sz="2000" b="0" u="none" strike="noStrike">
              <a:solidFill>
                <a:srgbClr val="000000"/>
              </a:solidFill>
              <a:effectLst/>
              <a:uFillTx/>
              <a:latin typeface="Arial"/>
            </a:endParaRPr>
          </a:p>
        </p:txBody>
      </p:sp>
      <p:sp>
        <p:nvSpPr>
          <p:cNvPr id="219"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F27358D-9DA4-40FE-80AD-6A366689525E}"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sldImg"/>
          </p:nvPr>
        </p:nvSpPr>
        <p:spPr>
          <a:xfrm>
            <a:off x="1143000" y="685800"/>
            <a:ext cx="4571640" cy="3428640"/>
          </a:xfrm>
          <a:prstGeom prst="rect">
            <a:avLst/>
          </a:prstGeom>
          <a:ln w="0">
            <a:noFill/>
          </a:ln>
        </p:spPr>
      </p:sp>
      <p:sp>
        <p:nvSpPr>
          <p:cNvPr id="22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SPEAKER NOTES &amp; PRESENTATION SCRIPT: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Under Objective 6, we analyze the composite HVI ranking. By combining cases, mortality, beds, and vaccines, we see that Delhi and West Bengal rank as the most vulnerable. This is due to a combination of high caseloads, poor air quality, and infrastructure strain. In contrast, Kerala and Tamil Nadu have the lowest HVI scores, showing strong public health resilience. This ranking serves as an objective tool for policy prioritization.</a:t>
            </a:r>
            <a:endParaRPr lang="en-IN" sz="2000" b="0" u="none" strike="noStrike">
              <a:solidFill>
                <a:srgbClr val="000000"/>
              </a:solidFill>
              <a:effectLst/>
              <a:uFillTx/>
              <a:latin typeface="Arial"/>
            </a:endParaRPr>
          </a:p>
        </p:txBody>
      </p:sp>
      <p:sp>
        <p:nvSpPr>
          <p:cNvPr id="222"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9B6F021-9E80-4C6F-A6DC-AA736907A05D}"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sldImg"/>
          </p:nvPr>
        </p:nvSpPr>
        <p:spPr>
          <a:xfrm>
            <a:off x="1143000" y="685800"/>
            <a:ext cx="4571640" cy="3428640"/>
          </a:xfrm>
          <a:prstGeom prst="rect">
            <a:avLst/>
          </a:prstGeom>
          <a:ln w="0">
            <a:noFill/>
          </a:ln>
        </p:spPr>
      </p:sp>
      <p:sp>
        <p:nvSpPr>
          <p:cNvPr id="22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SPEAKER NOTES &amp; PRESENTATION SCRIPT: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For Objective 7, we applied a K-Means clustering algorithm to categorize the 384 data points into three clusters. The resulting scatter plot shows three distinct zones. Cluster 0 represents safe zones with high vaccination and low cases. Cluster 2 represents emergency zones with low vaccination and high caseloads. This categorization helps health departments deploy target interventions, like sending emergency mobile vaccine clinics to Cluster 2 zones.</a:t>
            </a:r>
            <a:endParaRPr lang="en-IN" sz="2000" b="0" u="none" strike="noStrike">
              <a:solidFill>
                <a:srgbClr val="000000"/>
              </a:solidFill>
              <a:effectLst/>
              <a:uFillTx/>
              <a:latin typeface="Arial"/>
            </a:endParaRPr>
          </a:p>
        </p:txBody>
      </p:sp>
      <p:sp>
        <p:nvSpPr>
          <p:cNvPr id="225"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B1855D5-6772-47AD-998D-6B0183949A77}"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sldImg"/>
          </p:nvPr>
        </p:nvSpPr>
        <p:spPr>
          <a:xfrm>
            <a:off x="1143000" y="685800"/>
            <a:ext cx="4571640" cy="3428640"/>
          </a:xfrm>
          <a:prstGeom prst="rect">
            <a:avLst/>
          </a:prstGeom>
          <a:ln w="0">
            <a:noFill/>
          </a:ln>
        </p:spPr>
      </p:sp>
      <p:sp>
        <p:nvSpPr>
          <p:cNvPr id="22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SPEAKER NOTES &amp; PRESENTATION SCRIPT: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Addressing Objective 8, we trained a Random Forest Regressor to forecast disease cases. We selected six predictors: Population, Vaccination, Beds, Doctors, Mortality, and AQI. The validation metrics are excellent. The model achieved an R2 score of 0.957, meaning it explains 95.7% of the variation in the testing set. The Mean Absolute Error is only 120 cases, which represents a very low 5% error rate relative to the average monthly caseload.</a:t>
            </a:r>
            <a:endParaRPr lang="en-IN" sz="2000" b="0" u="none" strike="noStrike">
              <a:solidFill>
                <a:srgbClr val="000000"/>
              </a:solidFill>
              <a:effectLst/>
              <a:uFillTx/>
              <a:latin typeface="Arial"/>
            </a:endParaRPr>
          </a:p>
        </p:txBody>
      </p:sp>
      <p:sp>
        <p:nvSpPr>
          <p:cNvPr id="228"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D33EE08-2AF0-4C8F-AEAE-D4BC7BA4BB76}"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sldImg"/>
          </p:nvPr>
        </p:nvSpPr>
        <p:spPr>
          <a:xfrm>
            <a:off x="1143000" y="685800"/>
            <a:ext cx="4571640" cy="3428640"/>
          </a:xfrm>
          <a:prstGeom prst="rect">
            <a:avLst/>
          </a:prstGeom>
          <a:ln w="0">
            <a:noFill/>
          </a:ln>
        </p:spPr>
      </p:sp>
      <p:sp>
        <p:nvSpPr>
          <p:cNvPr id="23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SPEAKER NOTES &amp; PRESENTATION SCRIPT: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This scatter plot visualizes our model validation. By plotting the actual cases on the X-axis against predicted cases on the Y-axis, we see that the points align tightly along the diagonal line. This shows that the Random Forest model is highly robust, predicting both low-burden periods and high-burden surges with minimal error. The model is ready to be deployed as a decision support system.</a:t>
            </a:r>
            <a:endParaRPr lang="en-IN" sz="2000" b="0" u="none" strike="noStrike">
              <a:solidFill>
                <a:srgbClr val="000000"/>
              </a:solidFill>
              <a:effectLst/>
              <a:uFillTx/>
              <a:latin typeface="Arial"/>
            </a:endParaRPr>
          </a:p>
        </p:txBody>
      </p:sp>
      <p:sp>
        <p:nvSpPr>
          <p:cNvPr id="231" name="PlaceHolder 3"/>
          <p:cNvSpPr>
            <a:spLocks noGrp="1"/>
          </p:cNvSpPr>
          <p:nvPr>
            <p:ph type="sldNum" idx="5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07A4707-7CB3-406F-BA77-E2D52DA46DD8}"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sldImg"/>
          </p:nvPr>
        </p:nvSpPr>
        <p:spPr>
          <a:xfrm>
            <a:off x="1143000" y="685800"/>
            <a:ext cx="4571640" cy="3428640"/>
          </a:xfrm>
          <a:prstGeom prst="rect">
            <a:avLst/>
          </a:prstGeom>
          <a:ln w="0">
            <a:noFill/>
          </a:ln>
        </p:spPr>
      </p:sp>
      <p:sp>
        <p:nvSpPr>
          <p:cNvPr id="23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SPEAKER NOTES &amp; PRESENTATION SCRIPT: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This feature importance bar chart addresses our final objective. Interestingly, environmental air quality (AQI) and vaccination rates are identified as the top two drivers of disease cases in the model. Infrastructure features like hospital beds and doctors have a lower direct impact on predictions. This indicates that environmental control and vaccination drives are much more effective at preventing outbreaks than simply building hospitals after cases occur.</a:t>
            </a:r>
            <a:endParaRPr lang="en-IN" sz="2000" b="0" u="none" strike="noStrike">
              <a:solidFill>
                <a:srgbClr val="000000"/>
              </a:solidFill>
              <a:effectLst/>
              <a:uFillTx/>
              <a:latin typeface="Arial"/>
            </a:endParaRPr>
          </a:p>
        </p:txBody>
      </p:sp>
      <p:sp>
        <p:nvSpPr>
          <p:cNvPr id="234" name="PlaceHolder 3"/>
          <p:cNvSpPr>
            <a:spLocks noGrp="1"/>
          </p:cNvSpPr>
          <p:nvPr>
            <p:ph type="sldNum" idx="5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2E5082B-5733-48A1-8144-E0DC9A067E92}"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Img"/>
          </p:nvPr>
        </p:nvSpPr>
        <p:spPr>
          <a:xfrm>
            <a:off x="1143000" y="685800"/>
            <a:ext cx="4571640" cy="3428640"/>
          </a:xfrm>
          <a:prstGeom prst="rect">
            <a:avLst/>
          </a:prstGeom>
          <a:ln w="0">
            <a:noFill/>
          </a:ln>
        </p:spPr>
      </p:sp>
      <p:sp>
        <p:nvSpPr>
          <p:cNvPr id="23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SPEAKER NOTES &amp; PRESENTATION SCRIPT: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To summarize, the project successfully links public health outcomes to environmental factors and vaccination rates. Our analysis shows that keeping AQI under control and vaccination coverage high are key to prevention. Geographically, HVI ranks Delhi and West Bengal as high-priority regions. This framework offers health ministries an objective tool to allocate resources and forecast outbreaks with high confidence.</a:t>
            </a:r>
            <a:endParaRPr lang="en-IN" sz="2000" b="0" u="none" strike="noStrike">
              <a:solidFill>
                <a:srgbClr val="000000"/>
              </a:solidFill>
              <a:effectLst/>
              <a:uFillTx/>
              <a:latin typeface="Arial"/>
            </a:endParaRPr>
          </a:p>
        </p:txBody>
      </p:sp>
      <p:sp>
        <p:nvSpPr>
          <p:cNvPr id="237" name="PlaceHolder 3"/>
          <p:cNvSpPr>
            <a:spLocks noGrp="1"/>
          </p:cNvSpPr>
          <p:nvPr>
            <p:ph type="sldNum" idx="5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2F1CB5C-0161-4E02-8ADA-AC7AAD2DA68A}"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1143000" y="685800"/>
            <a:ext cx="4571640" cy="3428640"/>
          </a:xfrm>
          <a:prstGeom prst="rect">
            <a:avLst/>
          </a:prstGeom>
          <a:ln w="0">
            <a:noFill/>
          </a:ln>
        </p:spPr>
      </p:sp>
      <p:sp>
        <p:nvSpPr>
          <p:cNvPr id="23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SPEAKER NOTES &amp; PRESENTATION SCRIPT: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In conclusion, this project successfully models public health analytics and provides a framework for predictive forecasting. For future scope, we plan to implement real-time data integration, add offline sync capabilities for field workers, and deploy a web dashboard so policy-makers can access forecasts dynamically. Thank you, I am now open to questions from the review committee.</a:t>
            </a:r>
            <a:endParaRPr lang="en-IN" sz="2000" b="0" u="none" strike="noStrike">
              <a:solidFill>
                <a:srgbClr val="000000"/>
              </a:solidFill>
              <a:effectLst/>
              <a:uFillTx/>
              <a:latin typeface="Arial"/>
            </a:endParaRPr>
          </a:p>
        </p:txBody>
      </p:sp>
      <p:sp>
        <p:nvSpPr>
          <p:cNvPr id="240" name="PlaceHolder 3"/>
          <p:cNvSpPr>
            <a:spLocks noGrp="1"/>
          </p:cNvSpPr>
          <p:nvPr>
            <p:ph type="sldNum" idx="5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C874E16-A31E-4C7B-BE23-5BAC1282A958}"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8F80A6B-E389-4DBE-8AD7-7E0E10629C52}"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FF94EE2-077B-4539-8341-39097B48EE74}"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79C094C-30FA-4DE8-BB7A-1B46D0A92EF0}"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E6AE0D8-1F41-47A5-8113-069219932AD9}"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63A29BA-08B6-4C20-B20E-B4AADF967964}"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9B01DE0-9802-49FE-9533-3810ECA22AD8}"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B540F4A-6D33-4A06-9C28-FBDC7C9D3663}"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CBC7447-8804-4E69-82DC-F6462366F9CA}"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08FC65A-14B5-4A66-BE44-69FBEF0E9AAD}"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ABD5BC0-75A7-4546-8D26-58416346783E}"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32DECC8-0E4C-47BD-8E82-89E0C79832AB}"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850"/>
        </a:solidFill>
      </p:bgPr>
    </p:bg>
    <p:spTree>
      <p:nvGrpSpPr>
        <p:cNvPr id="1" name=""/>
        <p:cNvGrpSpPr/>
        <p:nvPr/>
      </p:nvGrpSpPr>
      <p:grpSpPr>
        <a:xfrm>
          <a:off x="0" y="0"/>
          <a:ext cx="0" cy="0"/>
          <a:chOff x="0" y="0"/>
          <a:chExt cx="0" cy="0"/>
        </a:xfrm>
      </p:grpSpPr>
      <p:sp>
        <p:nvSpPr>
          <p:cNvPr id="67" name="TextBox 1"/>
          <p:cNvSpPr/>
          <p:nvPr/>
        </p:nvSpPr>
        <p:spPr>
          <a:xfrm>
            <a:off x="914400" y="1371600"/>
            <a:ext cx="10362600" cy="36579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401"/>
              </a:spcAft>
            </a:pPr>
            <a:r>
              <a:rPr lang="en-US" sz="4400" b="1" u="none" strike="noStrike">
                <a:solidFill>
                  <a:srgbClr val="FFFFFF"/>
                </a:solidFill>
                <a:effectLst/>
                <a:uFillTx/>
                <a:latin typeface="Trebuchet MS"/>
              </a:rPr>
              <a:t>Public </a:t>
            </a:r>
            <a:r>
              <a:rPr lang="en-US" sz="4400" b="1" u="none" strike="noStrike">
                <a:solidFill>
                  <a:srgbClr val="FFFFFF"/>
                </a:solidFill>
                <a:effectLst/>
                <a:uFillTx/>
                <a:latin typeface="Trebuchet MS"/>
              </a:rPr>
              <a:t>Health </a:t>
            </a:r>
            <a:r>
              <a:rPr lang="en-US" sz="4400" b="1" u="none" strike="noStrike">
                <a:solidFill>
                  <a:srgbClr val="FFFFFF"/>
                </a:solidFill>
                <a:effectLst/>
                <a:uFillTx/>
                <a:latin typeface="Trebuchet MS"/>
              </a:rPr>
              <a:t>Analytic</a:t>
            </a:r>
            <a:r>
              <a:rPr lang="en-US" sz="4400" b="1" u="none" strike="noStrike">
                <a:solidFill>
                  <a:srgbClr val="FFFFFF"/>
                </a:solidFill>
                <a:effectLst/>
                <a:uFillTx/>
                <a:latin typeface="Trebuchet MS"/>
              </a:rPr>
              <a:t>s &amp; </a:t>
            </a:r>
            <a:r>
              <a:rPr lang="en-US" sz="4400" b="1" u="none" strike="noStrike">
                <a:solidFill>
                  <a:srgbClr val="FFFFFF"/>
                </a:solidFill>
                <a:effectLst/>
                <a:uFillTx/>
                <a:latin typeface="Trebuchet MS"/>
              </a:rPr>
              <a:t>Predicti</a:t>
            </a:r>
            <a:r>
              <a:rPr lang="en-US" sz="4400" b="1" u="none" strike="noStrike">
                <a:solidFill>
                  <a:srgbClr val="FFFFFF"/>
                </a:solidFill>
                <a:effectLst/>
                <a:uFillTx/>
                <a:latin typeface="Trebuchet MS"/>
              </a:rPr>
              <a:t>ve </a:t>
            </a:r>
            <a:r>
              <a:rPr lang="en-US" sz="4400" b="1" u="none" strike="noStrike">
                <a:solidFill>
                  <a:srgbClr val="FFFFFF"/>
                </a:solidFill>
                <a:effectLst/>
                <a:uFillTx/>
                <a:latin typeface="Trebuchet MS"/>
              </a:rPr>
              <a:t>Modelin</a:t>
            </a:r>
            <a:r>
              <a:rPr lang="en-US" sz="4400" b="1" u="none" strike="noStrike">
                <a:solidFill>
                  <a:srgbClr val="FFFFFF"/>
                </a:solidFill>
                <a:effectLst/>
                <a:uFillTx/>
                <a:latin typeface="Trebuchet MS"/>
              </a:rPr>
              <a:t>g</a:t>
            </a:r>
            <a:endParaRPr lang="en-IN" sz="4400" b="0" u="none" strike="noStrike">
              <a:solidFill>
                <a:srgbClr val="FFFFFF"/>
              </a:solidFill>
              <a:effectLst/>
              <a:uFillTx/>
              <a:latin typeface="Arial"/>
            </a:endParaRPr>
          </a:p>
          <a:p>
            <a:pPr defTabSz="457200">
              <a:lnSpc>
                <a:spcPct val="100000"/>
              </a:lnSpc>
              <a:spcAft>
                <a:spcPts val="2401"/>
              </a:spcAft>
            </a:pPr>
            <a:r>
              <a:rPr lang="en-US" sz="1800" b="0" u="none" strike="noStrike">
                <a:solidFill>
                  <a:srgbClr val="80DEEA"/>
                </a:solidFill>
                <a:effectLst/>
                <a:uFillTx/>
                <a:latin typeface="Calibri"/>
              </a:rPr>
              <a:t>Data-Driven Regional </a:t>
            </a:r>
            <a:r>
              <a:rPr lang="en-US" sz="1800" b="0" u="none" strike="noStrike">
                <a:solidFill>
                  <a:srgbClr val="80DEEA"/>
                </a:solidFill>
                <a:effectLst/>
                <a:uFillTx/>
                <a:latin typeface="Calibri"/>
              </a:rPr>
              <a:t>Health Risk Profiling &amp; </a:t>
            </a:r>
            <a:r>
              <a:rPr lang="en-US" sz="1800" b="0" u="none" strike="noStrike">
                <a:solidFill>
                  <a:srgbClr val="80DEEA"/>
                </a:solidFill>
                <a:effectLst/>
                <a:uFillTx/>
                <a:latin typeface="Calibri"/>
              </a:rPr>
              <a:t>Outbreak Forecasting</a:t>
            </a:r>
            <a:endParaRPr lang="en-IN" sz="1800" b="0" u="none" strike="noStrike">
              <a:solidFill>
                <a:srgbClr val="FFFFFF"/>
              </a:solidFill>
              <a:effectLst/>
              <a:uFillTx/>
              <a:latin typeface="Arial"/>
            </a:endParaRPr>
          </a:p>
          <a:p>
            <a:pPr defTabSz="457200">
              <a:lnSpc>
                <a:spcPct val="100000"/>
              </a:lnSpc>
              <a:spcAft>
                <a:spcPts val="2401"/>
              </a:spcAft>
            </a:pPr>
            <a:endParaRPr lang="en-IN" sz="1800" b="0" u="none" strike="noStrike">
              <a:solidFill>
                <a:srgbClr val="FFFFFF"/>
              </a:solidFill>
              <a:effectLst/>
              <a:uFillTx/>
              <a:latin typeface="Arial"/>
            </a:endParaRPr>
          </a:p>
          <a:p>
            <a:pPr defTabSz="457200">
              <a:lnSpc>
                <a:spcPct val="100000"/>
              </a:lnSpc>
              <a:spcAft>
                <a:spcPts val="2401"/>
              </a:spcAft>
            </a:pPr>
            <a:r>
              <a:rPr lang="en-US" sz="1800" b="0" u="none" strike="noStrike">
                <a:solidFill>
                  <a:srgbClr val="80DEEA"/>
                </a:solidFill>
                <a:effectLst/>
                <a:uFillTx/>
                <a:latin typeface="Calibri"/>
              </a:rPr>
              <a:t>Presented By: Parvathy </a:t>
            </a:r>
            <a:r>
              <a:rPr lang="en-US" sz="1800" b="0" u="none" strike="noStrike">
                <a:solidFill>
                  <a:srgbClr val="80DEEA"/>
                </a:solidFill>
                <a:effectLst/>
                <a:uFillTx/>
                <a:latin typeface="Calibri"/>
              </a:rPr>
              <a:t>S Nair</a:t>
            </a:r>
            <a:endParaRPr lang="en-IN" sz="1800" b="0" u="none" strike="noStrike">
              <a:solidFill>
                <a:srgbClr val="FFFFFF"/>
              </a:solidFill>
              <a:effectLst/>
              <a:uFillTx/>
              <a:latin typeface="Arial"/>
            </a:endParaRPr>
          </a:p>
          <a:p>
            <a:pPr defTabSz="457200">
              <a:lnSpc>
                <a:spcPct val="100000"/>
              </a:lnSpc>
            </a:pPr>
            <a:r>
              <a:rPr lang="en-US" sz="1800" b="0" u="none" strike="noStrike">
                <a:solidFill>
                  <a:srgbClr val="80DEEA"/>
                </a:solidFill>
                <a:effectLst/>
                <a:uFillTx/>
                <a:latin typeface="Calibri"/>
              </a:rPr>
              <a:t>2</a:t>
            </a:r>
            <a:r>
              <a:rPr lang="en-US" sz="1800" b="0" u="none" strike="noStrike" baseline="33000">
                <a:solidFill>
                  <a:srgbClr val="80DEEA"/>
                </a:solidFill>
                <a:effectLst/>
                <a:uFillTx/>
                <a:latin typeface="Calibri"/>
              </a:rPr>
              <a:t>nd</a:t>
            </a:r>
            <a:r>
              <a:rPr lang="en-US" sz="1800" b="0" u="none" strike="noStrike">
                <a:solidFill>
                  <a:srgbClr val="80DEEA"/>
                </a:solidFill>
                <a:effectLst/>
                <a:uFillTx/>
                <a:latin typeface="Calibri"/>
              </a:rPr>
              <a:t> Semester, MSC Data </a:t>
            </a:r>
            <a:r>
              <a:rPr lang="en-US" sz="1800" b="0" u="none" strike="noStrike">
                <a:solidFill>
                  <a:srgbClr val="80DEEA"/>
                </a:solidFill>
                <a:effectLst/>
                <a:uFillTx/>
                <a:latin typeface="Calibri"/>
              </a:rPr>
              <a:t>Science with Big Data </a:t>
            </a:r>
            <a:r>
              <a:rPr lang="en-US" sz="1800" b="0" u="none" strike="noStrike">
                <a:solidFill>
                  <a:srgbClr val="80DEEA"/>
                </a:solidFill>
                <a:effectLst/>
                <a:uFillTx/>
                <a:latin typeface="Calibri"/>
              </a:rPr>
              <a:t>Analytics</a:t>
            </a:r>
            <a:endParaRPr lang="en-IN" sz="1800" b="0" u="none" strike="noStrike">
              <a:solidFill>
                <a:srgbClr val="FFFFFF"/>
              </a:solidFill>
              <a:effectLst/>
              <a:uFillTx/>
              <a:latin typeface="Arial"/>
            </a:endParaRPr>
          </a:p>
        </p:txBody>
      </p:sp>
      <p:sp>
        <p:nvSpPr>
          <p:cNvPr id="68" name="Rectangle 2"/>
          <p:cNvSpPr/>
          <p:nvPr/>
        </p:nvSpPr>
        <p:spPr>
          <a:xfrm>
            <a:off x="914400" y="1097280"/>
            <a:ext cx="2742840" cy="7272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endParaRPr lang="en-US" sz="1800" b="0" u="none" strike="noStrik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69" name="TextBox 1"/>
          <p:cNvSpPr/>
          <p:nvPr/>
        </p:nvSpPr>
        <p:spPr>
          <a:xfrm>
            <a:off x="731520" y="457200"/>
            <a:ext cx="1072836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142850"/>
                </a:solidFill>
                <a:effectLst/>
                <a:uFillTx/>
                <a:latin typeface="Trebuchet MS"/>
              </a:rPr>
              <a:t>Abstract</a:t>
            </a:r>
            <a:endParaRPr lang="en-IN" sz="2800" b="0" u="none" strike="noStrike">
              <a:solidFill>
                <a:srgbClr val="000000"/>
              </a:solidFill>
              <a:effectLst/>
              <a:uFillTx/>
              <a:latin typeface="Arial"/>
            </a:endParaRPr>
          </a:p>
        </p:txBody>
      </p:sp>
      <p:sp>
        <p:nvSpPr>
          <p:cNvPr id="70" name="Rectangle 2"/>
          <p:cNvSpPr/>
          <p:nvPr/>
        </p:nvSpPr>
        <p:spPr>
          <a:xfrm>
            <a:off x="731520" y="1188720"/>
            <a:ext cx="10728360" cy="3636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71" name="TextBox 3"/>
          <p:cNvSpPr/>
          <p:nvPr/>
        </p:nvSpPr>
        <p:spPr>
          <a:xfrm>
            <a:off x="731520" y="6309360"/>
            <a:ext cx="822924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787878"/>
                </a:solidFill>
                <a:effectLst/>
                <a:uFillTx/>
                <a:latin typeface="Calibri"/>
              </a:rPr>
              <a:t>Public Health Analytics &amp; Predictive Modeling | External Project Review</a:t>
            </a:r>
            <a:endParaRPr lang="en-IN" sz="900" b="0" u="none" strike="noStrike">
              <a:solidFill>
                <a:srgbClr val="000000"/>
              </a:solidFill>
              <a:effectLst/>
              <a:uFillTx/>
              <a:latin typeface="Arial"/>
            </a:endParaRPr>
          </a:p>
        </p:txBody>
      </p:sp>
      <p:sp>
        <p:nvSpPr>
          <p:cNvPr id="72" name="TextBox 4"/>
          <p:cNvSpPr/>
          <p:nvPr/>
        </p:nvSpPr>
        <p:spPr>
          <a:xfrm>
            <a:off x="10515600" y="6309360"/>
            <a:ext cx="944280" cy="2739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787878"/>
                </a:solidFill>
                <a:effectLst/>
                <a:uFillTx/>
                <a:latin typeface="Calibri"/>
              </a:rPr>
              <a:t>Slide 2 of 19</a:t>
            </a:r>
            <a:endParaRPr lang="en-IN" sz="900" b="0" u="none" strike="noStrike">
              <a:solidFill>
                <a:srgbClr val="000000"/>
              </a:solidFill>
              <a:effectLst/>
              <a:uFillTx/>
              <a:latin typeface="Arial"/>
            </a:endParaRPr>
          </a:p>
        </p:txBody>
      </p:sp>
      <p:sp>
        <p:nvSpPr>
          <p:cNvPr id="73" name="TextBox 5"/>
          <p:cNvSpPr/>
          <p:nvPr/>
        </p:nvSpPr>
        <p:spPr>
          <a:xfrm>
            <a:off x="731520" y="1463040"/>
            <a:ext cx="512028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Background:</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Epidemiological surveillance relies heavily on identifying multi-dimensional triggers. This study implements an analytical pipeline to profile regional health risks and forecast outbreak surges.</a:t>
            </a:r>
            <a:endParaRPr lang="en-IN" sz="13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Methodology:</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Dataset:</a:t>
            </a:r>
            <a:r>
              <a:rPr lang="en-US" sz="1300" b="0" u="none" strike="noStrike">
                <a:solidFill>
                  <a:srgbClr val="3C3C3C"/>
                </a:solidFill>
                <a:effectLst/>
                <a:uFillTx/>
                <a:latin typeface="Calibri"/>
              </a:rPr>
              <a:t> 4-year panel data (384 records) across 8 Indian states.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Mathematical Modeling:</a:t>
            </a:r>
            <a:r>
              <a:rPr lang="en-US" sz="1300" b="0" u="none" strike="noStrike">
                <a:solidFill>
                  <a:srgbClr val="3C3C3C"/>
                </a:solidFill>
                <a:effectLst/>
                <a:uFillTx/>
                <a:latin typeface="Calibri"/>
              </a:rPr>
              <a:t> Engineered a composite Health Vulnerability Index (HVI).</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Unsupervised Learning:</a:t>
            </a:r>
            <a:r>
              <a:rPr lang="en-US" sz="1300" b="0" u="none" strike="noStrike">
                <a:solidFill>
                  <a:srgbClr val="3C3C3C"/>
                </a:solidFill>
                <a:effectLst/>
                <a:uFillTx/>
                <a:latin typeface="Calibri"/>
              </a:rPr>
              <a:t> Applied K-Means clustering ($K=3$) for risk segmentation.</a:t>
            </a:r>
            <a:endParaRPr lang="en-IN" sz="1300" b="0" u="none" strike="noStrike">
              <a:solidFill>
                <a:srgbClr val="000000"/>
              </a:solidFill>
              <a:effectLst/>
              <a:uFillTx/>
              <a:latin typeface="Arial"/>
            </a:endParaRPr>
          </a:p>
        </p:txBody>
      </p:sp>
      <p:sp>
        <p:nvSpPr>
          <p:cNvPr id="74" name="TextBox 6"/>
          <p:cNvSpPr/>
          <p:nvPr/>
        </p:nvSpPr>
        <p:spPr>
          <a:xfrm>
            <a:off x="6217920" y="1463040"/>
            <a:ext cx="521172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Key Findings: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Correlations:</a:t>
            </a:r>
            <a:r>
              <a:rPr lang="en-US" sz="1300" b="0" u="none" strike="noStrike">
                <a:solidFill>
                  <a:srgbClr val="3C3C3C"/>
                </a:solidFill>
                <a:effectLst/>
                <a:uFillTx/>
                <a:latin typeface="Calibri"/>
              </a:rPr>
              <a:t> Vaccination Rate exhibits a strong negative correlation (-0.81) with cases, while AQI shows a strong positive correlation (+0.68).</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Vulnerability:</a:t>
            </a:r>
            <a:r>
              <a:rPr lang="en-US" sz="1300" b="0" u="none" strike="noStrike">
                <a:solidFill>
                  <a:srgbClr val="3C3C3C"/>
                </a:solidFill>
                <a:effectLst/>
                <a:uFillTx/>
                <a:latin typeface="Calibri"/>
              </a:rPr>
              <a:t> Delhi and West Bengal exhibit the highest average HVI, while Kerala and Tamil Nadu are the most resilient.</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Supervised Forecasting:</a:t>
            </a:r>
            <a:r>
              <a:rPr lang="en-US" sz="1300" b="0" u="none" strike="noStrike">
                <a:solidFill>
                  <a:srgbClr val="3C3C3C"/>
                </a:solidFill>
                <a:effectLst/>
                <a:uFillTx/>
                <a:latin typeface="Calibri"/>
              </a:rPr>
              <a:t> RandomForest Regressor predicts disease cases with </a:t>
            </a:r>
            <a:r>
              <a:rPr lang="en-US" sz="1300" b="1" u="none" strike="noStrike">
                <a:solidFill>
                  <a:srgbClr val="142850"/>
                </a:solidFill>
                <a:effectLst/>
                <a:uFillTx/>
                <a:latin typeface="Calibri"/>
              </a:rPr>
              <a:t>95.7% accuracy</a:t>
            </a:r>
            <a:r>
              <a:rPr lang="en-US" sz="1300" b="0" u="none" strike="noStrike">
                <a:solidFill>
                  <a:srgbClr val="3C3C3C"/>
                </a:solidFill>
                <a:effectLst/>
                <a:uFillTx/>
                <a:latin typeface="Calibri"/>
              </a:rPr>
              <a:t> ($R^2$: 0.957, MAE: 120.30 cases).</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75" name="TextBox 1"/>
          <p:cNvSpPr/>
          <p:nvPr/>
        </p:nvSpPr>
        <p:spPr>
          <a:xfrm>
            <a:off x="731520" y="457200"/>
            <a:ext cx="1072836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142850"/>
                </a:solidFill>
                <a:effectLst/>
                <a:uFillTx/>
                <a:latin typeface="Trebuchet MS"/>
              </a:rPr>
              <a:t>Project Objectives</a:t>
            </a:r>
            <a:endParaRPr lang="en-IN" sz="2800" b="0" u="none" strike="noStrike">
              <a:solidFill>
                <a:srgbClr val="000000"/>
              </a:solidFill>
              <a:effectLst/>
              <a:uFillTx/>
              <a:latin typeface="Arial"/>
            </a:endParaRPr>
          </a:p>
        </p:txBody>
      </p:sp>
      <p:sp>
        <p:nvSpPr>
          <p:cNvPr id="76" name="Rectangle 2"/>
          <p:cNvSpPr/>
          <p:nvPr/>
        </p:nvSpPr>
        <p:spPr>
          <a:xfrm>
            <a:off x="731520" y="1188720"/>
            <a:ext cx="10728360" cy="3636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77" name="TextBox 3"/>
          <p:cNvSpPr/>
          <p:nvPr/>
        </p:nvSpPr>
        <p:spPr>
          <a:xfrm>
            <a:off x="731520" y="6309360"/>
            <a:ext cx="822924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787878"/>
                </a:solidFill>
                <a:effectLst/>
                <a:uFillTx/>
                <a:latin typeface="Calibri"/>
              </a:rPr>
              <a:t>Public Health Analytics &amp; Predictive Modeling | External Project Review</a:t>
            </a:r>
            <a:endParaRPr lang="en-IN" sz="900" b="0" u="none" strike="noStrike">
              <a:solidFill>
                <a:srgbClr val="000000"/>
              </a:solidFill>
              <a:effectLst/>
              <a:uFillTx/>
              <a:latin typeface="Arial"/>
            </a:endParaRPr>
          </a:p>
        </p:txBody>
      </p:sp>
      <p:sp>
        <p:nvSpPr>
          <p:cNvPr id="78" name="TextBox 4"/>
          <p:cNvSpPr/>
          <p:nvPr/>
        </p:nvSpPr>
        <p:spPr>
          <a:xfrm>
            <a:off x="10515600" y="6309360"/>
            <a:ext cx="944280" cy="2739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787878"/>
                </a:solidFill>
                <a:effectLst/>
                <a:uFillTx/>
                <a:latin typeface="Calibri"/>
              </a:rPr>
              <a:t>Slide 3 of 19</a:t>
            </a:r>
            <a:endParaRPr lang="en-IN" sz="900" b="0" u="none" strike="noStrike">
              <a:solidFill>
                <a:srgbClr val="000000"/>
              </a:solidFill>
              <a:effectLst/>
              <a:uFillTx/>
              <a:latin typeface="Arial"/>
            </a:endParaRPr>
          </a:p>
        </p:txBody>
      </p:sp>
      <p:sp>
        <p:nvSpPr>
          <p:cNvPr id="79" name="TextBox 5"/>
          <p:cNvSpPr/>
          <p:nvPr/>
        </p:nvSpPr>
        <p:spPr>
          <a:xfrm>
            <a:off x="731520" y="1463040"/>
            <a:ext cx="594324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Primary Goal:</a:t>
            </a:r>
            <a:r>
              <a:rPr lang="en-US" sz="1400" b="0" u="none" strike="noStrike">
                <a:solidFill>
                  <a:srgbClr val="3C3C3C"/>
                </a:solidFill>
                <a:effectLst/>
                <a:uFillTx/>
                <a:latin typeface="Calibri"/>
              </a:rPr>
              <a:t> Build an end-to-end analytical framework to monitor, index, and forecast public health outbreaks using environmental and healthcare metrics.</a:t>
            </a:r>
            <a:endParaRPr lang="en-IN" sz="14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Specific Objectives: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1. </a:t>
            </a:r>
            <a:r>
              <a:rPr lang="en-US" sz="1300" b="1" u="none" strike="noStrike">
                <a:solidFill>
                  <a:srgbClr val="142850"/>
                </a:solidFill>
                <a:effectLst/>
                <a:uFillTx/>
                <a:latin typeface="Calibri"/>
              </a:rPr>
              <a:t>Identify Correlations:</a:t>
            </a:r>
            <a:r>
              <a:rPr lang="en-US" sz="1300" b="0" u="none" strike="noStrike">
                <a:solidFill>
                  <a:srgbClr val="3C3C3C"/>
                </a:solidFill>
                <a:effectLst/>
                <a:uFillTx/>
                <a:latin typeface="Calibri"/>
              </a:rPr>
              <a:t> Map quantitative relationships between air quality, vaccinations, infrastructure, and disease cases.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2. </a:t>
            </a:r>
            <a:r>
              <a:rPr lang="en-US" sz="1300" b="1" u="none" strike="noStrike">
                <a:solidFill>
                  <a:srgbClr val="142850"/>
                </a:solidFill>
                <a:effectLst/>
                <a:uFillTx/>
                <a:latin typeface="Calibri"/>
              </a:rPr>
              <a:t>Seasonal Trends:</a:t>
            </a:r>
            <a:r>
              <a:rPr lang="en-US" sz="1300" b="0" u="none" strike="noStrike">
                <a:solidFill>
                  <a:srgbClr val="3C3C3C"/>
                </a:solidFill>
                <a:effectLst/>
                <a:uFillTx/>
                <a:latin typeface="Calibri"/>
              </a:rPr>
              <a:t> Model monthly and seasonal variations in transmission.</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3. </a:t>
            </a:r>
            <a:r>
              <a:rPr lang="en-US" sz="1300" b="1" u="none" strike="noStrike">
                <a:solidFill>
                  <a:srgbClr val="142850"/>
                </a:solidFill>
                <a:effectLst/>
                <a:uFillTx/>
                <a:latin typeface="Calibri"/>
              </a:rPr>
              <a:t>Geographic Distribution:</a:t>
            </a:r>
            <a:r>
              <a:rPr lang="en-US" sz="1300" b="0" u="none" strike="noStrike">
                <a:solidFill>
                  <a:srgbClr val="3C3C3C"/>
                </a:solidFill>
                <a:effectLst/>
                <a:uFillTx/>
                <a:latin typeface="Calibri"/>
              </a:rPr>
              <a:t> Identify high-burden hot spots across 8 Indian states.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4. </a:t>
            </a:r>
            <a:r>
              <a:rPr lang="en-US" sz="1300" b="1" u="none" strike="noStrike">
                <a:solidFill>
                  <a:srgbClr val="142850"/>
                </a:solidFill>
                <a:effectLst/>
                <a:uFillTx/>
                <a:latin typeface="Calibri"/>
              </a:rPr>
              <a:t>Immunization Efficacy:</a:t>
            </a:r>
            <a:r>
              <a:rPr lang="en-US" sz="1300" b="0" u="none" strike="noStrike">
                <a:solidFill>
                  <a:srgbClr val="3C3C3C"/>
                </a:solidFill>
                <a:effectLst/>
                <a:uFillTx/>
                <a:latin typeface="Calibri"/>
              </a:rPr>
              <a:t> Quantify the real-world protective impact of vaccination campaigns.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5. </a:t>
            </a:r>
            <a:r>
              <a:rPr lang="en-US" sz="1300" b="1" u="none" strike="noStrike">
                <a:solidFill>
                  <a:srgbClr val="142850"/>
                </a:solidFill>
                <a:effectLst/>
                <a:uFillTx/>
                <a:latin typeface="Calibri"/>
              </a:rPr>
              <a:t>Composite Indexing:</a:t>
            </a:r>
            <a:r>
              <a:rPr lang="en-US" sz="1300" b="0" u="none" strike="noStrike">
                <a:solidFill>
                  <a:srgbClr val="3C3C3C"/>
                </a:solidFill>
                <a:effectLst/>
                <a:uFillTx/>
                <a:latin typeface="Calibri"/>
              </a:rPr>
              <a:t> Formulate a Health Vulnerability Index (HVI) to rank and prioritize states.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6. </a:t>
            </a:r>
            <a:r>
              <a:rPr lang="en-US" sz="1300" b="1" u="none" strike="noStrike">
                <a:solidFill>
                  <a:srgbClr val="142850"/>
                </a:solidFill>
                <a:effectLst/>
                <a:uFillTx/>
                <a:latin typeface="Calibri"/>
              </a:rPr>
              <a:t>Risk Segmentation:</a:t>
            </a:r>
            <a:r>
              <a:rPr lang="en-US" sz="1300" b="0" u="none" strike="noStrike">
                <a:solidFill>
                  <a:srgbClr val="3C3C3C"/>
                </a:solidFill>
                <a:effectLst/>
                <a:uFillTx/>
                <a:latin typeface="Calibri"/>
              </a:rPr>
              <a:t> Group region-months into clusters for targeted interventions.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7. </a:t>
            </a:r>
            <a:r>
              <a:rPr lang="en-US" sz="1300" b="1" u="none" strike="noStrike">
                <a:solidFill>
                  <a:srgbClr val="142850"/>
                </a:solidFill>
                <a:effectLst/>
                <a:uFillTx/>
                <a:latin typeface="Calibri"/>
              </a:rPr>
              <a:t>Predictive Modeling:</a:t>
            </a:r>
            <a:r>
              <a:rPr lang="en-US" sz="1300" b="0" u="none" strike="noStrike">
                <a:solidFill>
                  <a:srgbClr val="3C3C3C"/>
                </a:solidFill>
                <a:effectLst/>
                <a:uFillTx/>
                <a:latin typeface="Calibri"/>
              </a:rPr>
              <a:t> Train a machine learning regressor to forecast disease cases.</a:t>
            </a:r>
            <a:endParaRPr lang="en-IN" sz="1300" b="0" u="none" strike="noStrike">
              <a:solidFill>
                <a:srgbClr val="000000"/>
              </a:solidFill>
              <a:effectLst/>
              <a:uFillTx/>
              <a:latin typeface="Arial"/>
            </a:endParaRPr>
          </a:p>
        </p:txBody>
      </p:sp>
      <p:sp>
        <p:nvSpPr>
          <p:cNvPr id="80" name="Rounded Rectangle 6"/>
          <p:cNvSpPr/>
          <p:nvPr/>
        </p:nvSpPr>
        <p:spPr>
          <a:xfrm>
            <a:off x="7132320" y="1463040"/>
            <a:ext cx="4327560" cy="4388760"/>
          </a:xfrm>
          <a:prstGeom prst="roundRect">
            <a:avLst>
              <a:gd name="adj" fmla="val 16667"/>
            </a:avLst>
          </a:prstGeom>
          <a:solidFill>
            <a:srgbClr val="E0F2F1"/>
          </a:solidFill>
          <a:ln>
            <a:solidFill>
              <a:srgbClr val="E0F2F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1" name="TextBox 7"/>
          <p:cNvSpPr/>
          <p:nvPr/>
        </p:nvSpPr>
        <p:spPr>
          <a:xfrm>
            <a:off x="7406640" y="1737360"/>
            <a:ext cx="3778920" cy="384012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800" b="1" u="none" strike="noStrike">
                <a:solidFill>
                  <a:srgbClr val="142850"/>
                </a:solidFill>
                <a:effectLst/>
                <a:uFillTx/>
                <a:latin typeface="Trebuchet MS"/>
              </a:rPr>
              <a:t>Analytical Key Layers:</a:t>
            </a:r>
            <a:r>
              <a:rPr lang="en-US" sz="1400" b="0" u="none" strike="noStrike">
                <a:solidFill>
                  <a:srgbClr val="3C3C3C"/>
                </a:solidFill>
                <a:effectLst/>
                <a:uFillTx/>
                <a:latin typeface="Calibri"/>
              </a:rPr>
              <a:t>• </a:t>
            </a:r>
            <a:r>
              <a:rPr lang="en-US" sz="1400" b="1" u="none" strike="noStrike">
                <a:solidFill>
                  <a:srgbClr val="142850"/>
                </a:solidFill>
                <a:effectLst/>
                <a:uFillTx/>
                <a:latin typeface="Calibri"/>
              </a:rPr>
              <a:t>Exploratory Analytics:</a:t>
            </a:r>
            <a:r>
              <a:rPr lang="en-US" sz="1400" b="0" u="none" strike="noStrike">
                <a:solidFill>
                  <a:srgbClr val="3C3C3C"/>
                </a:solidFill>
                <a:effectLst/>
                <a:uFillTx/>
                <a:latin typeface="Calibri"/>
              </a:rPr>
              <a:t> Statistical correlations and seasonal trends.</a:t>
            </a:r>
            <a:endParaRPr lang="en-IN" sz="1400" b="0" u="none" strike="noStrike">
              <a:solidFill>
                <a:srgbClr val="000000"/>
              </a:solidFill>
              <a:effectLst/>
              <a:uFillTx/>
              <a:latin typeface="Arial"/>
            </a:endParaRPr>
          </a:p>
          <a:p>
            <a:pPr defTabSz="457200">
              <a:lnSpc>
                <a:spcPct val="100000"/>
              </a:lnSpc>
              <a:spcAft>
                <a:spcPts val="799"/>
              </a:spcAft>
            </a:pPr>
            <a:r>
              <a:rPr lang="en-US" sz="1400" b="0" u="none" strike="noStrike">
                <a:solidFill>
                  <a:srgbClr val="3C3C3C"/>
                </a:solidFill>
                <a:effectLst/>
                <a:uFillTx/>
                <a:latin typeface="Calibri"/>
              </a:rPr>
              <a:t>• </a:t>
            </a:r>
            <a:r>
              <a:rPr lang="en-US" sz="1400" b="1" u="none" strike="noStrike">
                <a:solidFill>
                  <a:srgbClr val="142850"/>
                </a:solidFill>
                <a:effectLst/>
                <a:uFillTx/>
                <a:latin typeface="Calibri"/>
              </a:rPr>
              <a:t>Mathematical Modeling:</a:t>
            </a:r>
            <a:r>
              <a:rPr lang="en-US" sz="1400" b="0" u="none" strike="noStrike">
                <a:solidFill>
                  <a:srgbClr val="3C3C3C"/>
                </a:solidFill>
                <a:effectLst/>
                <a:uFillTx/>
                <a:latin typeface="Calibri"/>
              </a:rPr>
              <a:t> Composite Health Vulnerability Index.</a:t>
            </a:r>
            <a:endParaRPr lang="en-IN" sz="1400" b="0" u="none" strike="noStrike">
              <a:solidFill>
                <a:srgbClr val="000000"/>
              </a:solidFill>
              <a:effectLst/>
              <a:uFillTx/>
              <a:latin typeface="Arial"/>
            </a:endParaRPr>
          </a:p>
          <a:p>
            <a:pPr defTabSz="457200">
              <a:lnSpc>
                <a:spcPct val="100000"/>
              </a:lnSpc>
              <a:spcAft>
                <a:spcPts val="799"/>
              </a:spcAft>
            </a:pPr>
            <a:r>
              <a:rPr lang="en-US" sz="1400" b="0" u="none" strike="noStrike">
                <a:solidFill>
                  <a:srgbClr val="3C3C3C"/>
                </a:solidFill>
                <a:effectLst/>
                <a:uFillTx/>
                <a:latin typeface="Calibri"/>
              </a:rPr>
              <a:t>• </a:t>
            </a:r>
            <a:r>
              <a:rPr lang="en-US" sz="1400" b="1" u="none" strike="noStrike">
                <a:solidFill>
                  <a:srgbClr val="142850"/>
                </a:solidFill>
                <a:effectLst/>
                <a:uFillTx/>
                <a:latin typeface="Calibri"/>
              </a:rPr>
              <a:t>Unsupervised ML:</a:t>
            </a:r>
            <a:r>
              <a:rPr lang="en-US" sz="1400" b="0" u="none" strike="noStrike">
                <a:solidFill>
                  <a:srgbClr val="3C3C3C"/>
                </a:solidFill>
                <a:effectLst/>
                <a:uFillTx/>
                <a:latin typeface="Calibri"/>
              </a:rPr>
              <a:t> Risk segmentation using K-Means Clustering.</a:t>
            </a:r>
            <a:endParaRPr lang="en-IN" sz="1400" b="0" u="none" strike="noStrike">
              <a:solidFill>
                <a:srgbClr val="000000"/>
              </a:solidFill>
              <a:effectLst/>
              <a:uFillTx/>
              <a:latin typeface="Arial"/>
            </a:endParaRPr>
          </a:p>
          <a:p>
            <a:pPr defTabSz="457200">
              <a:lnSpc>
                <a:spcPct val="100000"/>
              </a:lnSpc>
              <a:spcAft>
                <a:spcPts val="799"/>
              </a:spcAft>
            </a:pPr>
            <a:r>
              <a:rPr lang="en-US" sz="1400" b="0" u="none" strike="noStrike">
                <a:solidFill>
                  <a:srgbClr val="3C3C3C"/>
                </a:solidFill>
                <a:effectLst/>
                <a:uFillTx/>
                <a:latin typeface="Calibri"/>
              </a:rPr>
              <a:t>• </a:t>
            </a:r>
            <a:r>
              <a:rPr lang="en-US" sz="1400" b="1" u="none" strike="noStrike">
                <a:solidFill>
                  <a:srgbClr val="142850"/>
                </a:solidFill>
                <a:effectLst/>
                <a:uFillTx/>
                <a:latin typeface="Calibri"/>
              </a:rPr>
              <a:t>Supervised ML:</a:t>
            </a:r>
            <a:r>
              <a:rPr lang="en-US" sz="1400" b="0" u="none" strike="noStrike">
                <a:solidFill>
                  <a:srgbClr val="3C3C3C"/>
                </a:solidFill>
                <a:effectLst/>
                <a:uFillTx/>
                <a:latin typeface="Calibri"/>
              </a:rPr>
              <a:t> Predictive Random Forest outbreak regressor.</a:t>
            </a: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82" name="TextBox 1"/>
          <p:cNvSpPr/>
          <p:nvPr/>
        </p:nvSpPr>
        <p:spPr>
          <a:xfrm>
            <a:off x="731520" y="457200"/>
            <a:ext cx="1072836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142850"/>
                </a:solidFill>
                <a:effectLst/>
                <a:uFillTx/>
                <a:latin typeface="Trebuchet MS"/>
              </a:rPr>
              <a:t>System Requirements Specification</a:t>
            </a:r>
            <a:endParaRPr lang="en-IN" sz="2800" b="0" u="none" strike="noStrike">
              <a:solidFill>
                <a:srgbClr val="000000"/>
              </a:solidFill>
              <a:effectLst/>
              <a:uFillTx/>
              <a:latin typeface="Arial"/>
            </a:endParaRPr>
          </a:p>
        </p:txBody>
      </p:sp>
      <p:sp>
        <p:nvSpPr>
          <p:cNvPr id="83" name="Rectangle 2"/>
          <p:cNvSpPr/>
          <p:nvPr/>
        </p:nvSpPr>
        <p:spPr>
          <a:xfrm>
            <a:off x="731520" y="1188720"/>
            <a:ext cx="10728360" cy="3636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84" name="TextBox 3"/>
          <p:cNvSpPr/>
          <p:nvPr/>
        </p:nvSpPr>
        <p:spPr>
          <a:xfrm>
            <a:off x="731520" y="6309360"/>
            <a:ext cx="822924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787878"/>
                </a:solidFill>
                <a:effectLst/>
                <a:uFillTx/>
                <a:latin typeface="Calibri"/>
              </a:rPr>
              <a:t>Public Health Analytics &amp; Predictive Modeling | External Project Review</a:t>
            </a:r>
            <a:endParaRPr lang="en-IN" sz="900" b="0" u="none" strike="noStrike">
              <a:solidFill>
                <a:srgbClr val="000000"/>
              </a:solidFill>
              <a:effectLst/>
              <a:uFillTx/>
              <a:latin typeface="Arial"/>
            </a:endParaRPr>
          </a:p>
        </p:txBody>
      </p:sp>
      <p:sp>
        <p:nvSpPr>
          <p:cNvPr id="85" name="TextBox 4"/>
          <p:cNvSpPr/>
          <p:nvPr/>
        </p:nvSpPr>
        <p:spPr>
          <a:xfrm>
            <a:off x="10515600" y="6309360"/>
            <a:ext cx="944280" cy="2739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787878"/>
                </a:solidFill>
                <a:effectLst/>
                <a:uFillTx/>
                <a:latin typeface="Calibri"/>
              </a:rPr>
              <a:t>Slide 4 of 19</a:t>
            </a:r>
            <a:endParaRPr lang="en-IN" sz="900" b="0" u="none" strike="noStrike">
              <a:solidFill>
                <a:srgbClr val="000000"/>
              </a:solidFill>
              <a:effectLst/>
              <a:uFillTx/>
              <a:latin typeface="Arial"/>
            </a:endParaRPr>
          </a:p>
        </p:txBody>
      </p:sp>
      <p:sp>
        <p:nvSpPr>
          <p:cNvPr id="86" name="TextBox 5"/>
          <p:cNvSpPr/>
          <p:nvPr/>
        </p:nvSpPr>
        <p:spPr>
          <a:xfrm>
            <a:off x="731520" y="1463040"/>
            <a:ext cx="512028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Software Requirements: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Operating System:</a:t>
            </a:r>
            <a:r>
              <a:rPr lang="en-US" sz="1300" b="0" u="none" strike="noStrike">
                <a:solidFill>
                  <a:srgbClr val="3C3C3C"/>
                </a:solidFill>
                <a:effectLst/>
                <a:uFillTx/>
                <a:latin typeface="Calibri"/>
              </a:rPr>
              <a:t> Windows 10/11, macOS, or Linux.</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Programming Language:</a:t>
            </a:r>
            <a:r>
              <a:rPr lang="en-US" sz="1300" b="0" u="none" strike="noStrike">
                <a:solidFill>
                  <a:srgbClr val="3C3C3C"/>
                </a:solidFill>
                <a:effectLst/>
                <a:uFillTx/>
                <a:latin typeface="Calibri"/>
              </a:rPr>
              <a:t> Python 3.8+ (current environment uses Python 3.12).</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Core Libraries (Data Science Stack):</a:t>
            </a:r>
            <a:endParaRPr lang="en-IN" sz="1300" b="0" u="none" strike="noStrike">
              <a:solidFill>
                <a:srgbClr val="000000"/>
              </a:solidFill>
              <a:effectLst/>
              <a:uFillTx/>
              <a:latin typeface="Arial"/>
            </a:endParaRPr>
          </a:p>
          <a:p>
            <a:pPr marL="914400" defTabSz="457200">
              <a:lnSpc>
                <a:spcPct val="100000"/>
              </a:lnSpc>
              <a:spcAft>
                <a:spcPts val="799"/>
              </a:spcAft>
            </a:pPr>
            <a:r>
              <a:rPr lang="en-US" sz="1200" b="0" u="none" strike="noStrike">
                <a:solidFill>
                  <a:srgbClr val="3C3C3C"/>
                </a:solidFill>
                <a:effectLst/>
                <a:uFillTx/>
                <a:latin typeface="Calibri"/>
              </a:rPr>
              <a:t>- `pandas` (version 2.0+) &amp; `numpy` - Data ingestion, profiling, and index engineering.</a:t>
            </a:r>
            <a:endParaRPr lang="en-IN" sz="1200" b="0" u="none" strike="noStrike">
              <a:solidFill>
                <a:srgbClr val="000000"/>
              </a:solidFill>
              <a:effectLst/>
              <a:uFillTx/>
              <a:latin typeface="Arial"/>
            </a:endParaRPr>
          </a:p>
          <a:p>
            <a:pPr marL="914400" defTabSz="457200">
              <a:lnSpc>
                <a:spcPct val="100000"/>
              </a:lnSpc>
              <a:spcAft>
                <a:spcPts val="799"/>
              </a:spcAft>
            </a:pPr>
            <a:r>
              <a:rPr lang="en-US" sz="1200" b="0" u="none" strike="noStrike">
                <a:solidFill>
                  <a:srgbClr val="3C3C3C"/>
                </a:solidFill>
                <a:effectLst/>
                <a:uFillTx/>
                <a:latin typeface="Calibri"/>
              </a:rPr>
              <a:t>- `scikit-learn` - Machine learning modeling (KMeans &amp; RandomForest).</a:t>
            </a:r>
            <a:endParaRPr lang="en-IN" sz="1200" b="0" u="none" strike="noStrike">
              <a:solidFill>
                <a:srgbClr val="000000"/>
              </a:solidFill>
              <a:effectLst/>
              <a:uFillTx/>
              <a:latin typeface="Arial"/>
            </a:endParaRPr>
          </a:p>
          <a:p>
            <a:pPr marL="914400" defTabSz="457200">
              <a:lnSpc>
                <a:spcPct val="100000"/>
              </a:lnSpc>
              <a:spcAft>
                <a:spcPts val="799"/>
              </a:spcAft>
            </a:pPr>
            <a:r>
              <a:rPr lang="en-US" sz="1200" b="0" u="none" strike="noStrike">
                <a:solidFill>
                  <a:srgbClr val="3C3C3C"/>
                </a:solidFill>
                <a:effectLst/>
                <a:uFillTx/>
                <a:latin typeface="Calibri"/>
              </a:rPr>
              <a:t>- `matplotlib` &amp; `seaborn` - Visual chart generation.</a:t>
            </a:r>
            <a:endParaRPr lang="en-IN" sz="1200" b="0" u="none" strike="noStrike">
              <a:solidFill>
                <a:srgbClr val="000000"/>
              </a:solidFill>
              <a:effectLst/>
              <a:uFillTx/>
              <a:latin typeface="Arial"/>
            </a:endParaRPr>
          </a:p>
          <a:p>
            <a:pPr marL="914400" defTabSz="457200">
              <a:lnSpc>
                <a:spcPct val="100000"/>
              </a:lnSpc>
              <a:spcAft>
                <a:spcPts val="799"/>
              </a:spcAft>
            </a:pPr>
            <a:r>
              <a:rPr lang="en-US" sz="1200" b="0" u="none" strike="noStrike">
                <a:solidFill>
                  <a:srgbClr val="3C3C3C"/>
                </a:solidFill>
                <a:effectLst/>
                <a:uFillTx/>
                <a:latin typeface="Calibri"/>
              </a:rPr>
              <a:t>- `python-pptx` - Programmatic PowerPoint construction.</a:t>
            </a:r>
            <a:endParaRPr lang="en-IN" sz="1200" b="0" u="none" strike="noStrike">
              <a:solidFill>
                <a:srgbClr val="000000"/>
              </a:solidFill>
              <a:effectLst/>
              <a:uFillTx/>
              <a:latin typeface="Arial"/>
            </a:endParaRPr>
          </a:p>
        </p:txBody>
      </p:sp>
      <p:sp>
        <p:nvSpPr>
          <p:cNvPr id="87" name="TextBox 6"/>
          <p:cNvSpPr/>
          <p:nvPr/>
        </p:nvSpPr>
        <p:spPr>
          <a:xfrm>
            <a:off x="6217920" y="1463040"/>
            <a:ext cx="521172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Hardware Requirements: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Processor (CPU):</a:t>
            </a:r>
            <a:r>
              <a:rPr lang="en-US" sz="1300" b="0" u="none" strike="noStrike">
                <a:solidFill>
                  <a:srgbClr val="3C3C3C"/>
                </a:solidFill>
                <a:effectLst/>
                <a:uFillTx/>
                <a:latin typeface="Calibri"/>
              </a:rPr>
              <a:t> Dual-Core 2.0 GHz or higher (Minimum); Intel Core i5 / AMD Ryzen 5 or higher (Recommended </a:t>
            </a:r>
            <a:r>
              <a:rPr lang="en-US" sz="1300" b="0" u="none" strike="noStrike">
                <a:solidFill>
                  <a:srgbClr val="3C3C3C"/>
                </a:solidFill>
                <a:effectLst/>
                <a:uFillTx/>
                <a:latin typeface="Calibri"/>
              </a:rPr>
              <a:t>for fast Random Forest execution).</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Memory (RAM):</a:t>
            </a:r>
            <a:r>
              <a:rPr lang="en-US" sz="1300" b="0" u="none" strike="noStrike">
                <a:solidFill>
                  <a:srgbClr val="3C3C3C"/>
                </a:solidFill>
                <a:effectLst/>
                <a:uFillTx/>
                <a:latin typeface="Calibri"/>
              </a:rPr>
              <a:t> 4 GB RAM (Minimum); 8 GB RAM or higher (Recommended to support concurrent ML training </a:t>
            </a:r>
            <a:r>
              <a:rPr lang="en-US" sz="1300" b="0" u="none" strike="noStrike">
                <a:solidFill>
                  <a:srgbClr val="3C3C3C"/>
                </a:solidFill>
                <a:effectLst/>
                <a:uFillTx/>
                <a:latin typeface="Calibri"/>
              </a:rPr>
              <a:t>and plotting in memory).</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Storage:</a:t>
            </a:r>
            <a:r>
              <a:rPr lang="en-US" sz="1300" b="0" u="none" strike="noStrike">
                <a:solidFill>
                  <a:srgbClr val="3C3C3C"/>
                </a:solidFill>
                <a:effectLst/>
                <a:uFillTx/>
                <a:latin typeface="Calibri"/>
              </a:rPr>
              <a:t> 500 MB of free hard drive space (for Python environment installation, historical datasets, visual PNG </a:t>
            </a:r>
            <a:r>
              <a:rPr lang="en-US" sz="1300" b="0" u="none" strike="noStrike">
                <a:solidFill>
                  <a:srgbClr val="3C3C3C"/>
                </a:solidFill>
                <a:effectLst/>
                <a:uFillTx/>
                <a:latin typeface="Calibri"/>
              </a:rPr>
              <a:t>figures, and generated presentations).</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88" name="TextBox 1"/>
          <p:cNvSpPr/>
          <p:nvPr/>
        </p:nvSpPr>
        <p:spPr>
          <a:xfrm>
            <a:off x="731520" y="457200"/>
            <a:ext cx="1072836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142850"/>
                </a:solidFill>
                <a:effectLst/>
                <a:uFillTx/>
                <a:latin typeface="Trebuchet MS"/>
              </a:rPr>
              <a:t>Dataset Profile &amp; Data Preprocessing</a:t>
            </a:r>
            <a:endParaRPr lang="en-IN" sz="2800" b="0" u="none" strike="noStrike">
              <a:solidFill>
                <a:srgbClr val="000000"/>
              </a:solidFill>
              <a:effectLst/>
              <a:uFillTx/>
              <a:latin typeface="Arial"/>
            </a:endParaRPr>
          </a:p>
        </p:txBody>
      </p:sp>
      <p:sp>
        <p:nvSpPr>
          <p:cNvPr id="89" name="Rectangle 2"/>
          <p:cNvSpPr/>
          <p:nvPr/>
        </p:nvSpPr>
        <p:spPr>
          <a:xfrm>
            <a:off x="731520" y="1188720"/>
            <a:ext cx="10728360" cy="3636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90" name="TextBox 3"/>
          <p:cNvSpPr/>
          <p:nvPr/>
        </p:nvSpPr>
        <p:spPr>
          <a:xfrm>
            <a:off x="731520" y="6309360"/>
            <a:ext cx="822924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787878"/>
                </a:solidFill>
                <a:effectLst/>
                <a:uFillTx/>
                <a:latin typeface="Calibri"/>
              </a:rPr>
              <a:t>Public Health </a:t>
            </a:r>
            <a:r>
              <a:rPr lang="en-US" sz="900" b="0" u="none" strike="noStrike">
                <a:solidFill>
                  <a:srgbClr val="787878"/>
                </a:solidFill>
                <a:effectLst/>
                <a:uFillTx/>
                <a:latin typeface="Calibri"/>
              </a:rPr>
              <a:t>Analytics &amp; </a:t>
            </a:r>
            <a:r>
              <a:rPr lang="en-US" sz="900" b="0" u="none" strike="noStrike">
                <a:solidFill>
                  <a:srgbClr val="787878"/>
                </a:solidFill>
                <a:effectLst/>
                <a:uFillTx/>
                <a:latin typeface="Calibri"/>
              </a:rPr>
              <a:t>Predictive Modeling </a:t>
            </a:r>
            <a:r>
              <a:rPr lang="en-US" sz="900" b="0" u="none" strike="noStrike">
                <a:solidFill>
                  <a:srgbClr val="787878"/>
                </a:solidFill>
                <a:effectLst/>
                <a:uFillTx/>
                <a:latin typeface="Calibri"/>
              </a:rPr>
              <a:t>| External Project </a:t>
            </a:r>
            <a:r>
              <a:rPr lang="en-US" sz="900" b="0" u="none" strike="noStrike">
                <a:solidFill>
                  <a:srgbClr val="787878"/>
                </a:solidFill>
                <a:effectLst/>
                <a:uFillTx/>
                <a:latin typeface="Calibri"/>
              </a:rPr>
              <a:t>Review</a:t>
            </a:r>
            <a:endParaRPr lang="en-IN" sz="900" b="0" u="none" strike="noStrike">
              <a:solidFill>
                <a:srgbClr val="000000"/>
              </a:solidFill>
              <a:effectLst/>
              <a:uFillTx/>
              <a:latin typeface="Arial"/>
            </a:endParaRPr>
          </a:p>
        </p:txBody>
      </p:sp>
      <p:sp>
        <p:nvSpPr>
          <p:cNvPr id="91" name="TextBox 4"/>
          <p:cNvSpPr/>
          <p:nvPr/>
        </p:nvSpPr>
        <p:spPr>
          <a:xfrm>
            <a:off x="10515600" y="6309360"/>
            <a:ext cx="944280" cy="2739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787878"/>
                </a:solidFill>
                <a:effectLst/>
                <a:uFillTx/>
                <a:latin typeface="Calibri"/>
              </a:rPr>
              <a:t>Slide 5 of 19</a:t>
            </a:r>
            <a:endParaRPr lang="en-IN" sz="900" b="0" u="none" strike="noStrike">
              <a:solidFill>
                <a:srgbClr val="000000"/>
              </a:solidFill>
              <a:effectLst/>
              <a:uFillTx/>
              <a:latin typeface="Arial"/>
            </a:endParaRPr>
          </a:p>
        </p:txBody>
      </p:sp>
      <p:sp>
        <p:nvSpPr>
          <p:cNvPr id="92" name="TextBox 5"/>
          <p:cNvSpPr/>
          <p:nvPr/>
        </p:nvSpPr>
        <p:spPr>
          <a:xfrm>
            <a:off x="731520" y="1463040"/>
            <a:ext cx="512028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Dataset Dimensions: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Total Records:</a:t>
            </a:r>
            <a:r>
              <a:rPr lang="en-US" sz="1300" b="0" u="none" strike="noStrike">
                <a:solidFill>
                  <a:srgbClr val="3C3C3C"/>
                </a:solidFill>
                <a:effectLst/>
                <a:uFillTx/>
                <a:latin typeface="Calibri"/>
              </a:rPr>
              <a:t> 384 monthly records.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Duration:</a:t>
            </a:r>
            <a:r>
              <a:rPr lang="en-US" sz="1300" b="0" u="none" strike="noStrike">
                <a:solidFill>
                  <a:srgbClr val="3C3C3C"/>
                </a:solidFill>
                <a:effectLst/>
                <a:uFillTx/>
                <a:latin typeface="Calibri"/>
              </a:rPr>
              <a:t> 4 Years (2022 to 2025).</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Spatial Scope:</a:t>
            </a:r>
            <a:r>
              <a:rPr lang="en-US" sz="1300" b="0" u="none" strike="noStrike">
                <a:solidFill>
                  <a:srgbClr val="3C3C3C"/>
                </a:solidFill>
                <a:effectLst/>
                <a:uFillTx/>
                <a:latin typeface="Calibri"/>
              </a:rPr>
              <a:t> 8 Indian states represented.</a:t>
            </a:r>
            <a:endParaRPr lang="en-IN" sz="13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Dataset Schema Features: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Demographics:</a:t>
            </a:r>
            <a:r>
              <a:rPr lang="en-US" sz="1300" b="0" u="none" strike="noStrike">
                <a:solidFill>
                  <a:srgbClr val="3C3C3C"/>
                </a:solidFill>
                <a:effectLst/>
                <a:uFillTx/>
                <a:latin typeface="Calibri"/>
              </a:rPr>
              <a:t> State name, Population.</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Epidemiology:</a:t>
            </a:r>
            <a:r>
              <a:rPr lang="en-US" sz="1300" b="0" u="none" strike="noStrike">
                <a:solidFill>
                  <a:srgbClr val="3C3C3C"/>
                </a:solidFill>
                <a:effectLst/>
                <a:uFillTx/>
                <a:latin typeface="Calibri"/>
              </a:rPr>
              <a:t> Disease Cases, Mortality Rate.</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Immunization:</a:t>
            </a:r>
            <a:r>
              <a:rPr lang="en-US" sz="1300" b="0" u="none" strike="noStrike">
                <a:solidFill>
                  <a:srgbClr val="3C3C3C"/>
                </a:solidFill>
                <a:effectLst/>
                <a:uFillTx/>
                <a:latin typeface="Calibri"/>
              </a:rPr>
              <a:t> Vaccination Rate (%).</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Resources:</a:t>
            </a:r>
            <a:r>
              <a:rPr lang="en-US" sz="1300" b="0" u="none" strike="noStrike">
                <a:solidFill>
                  <a:srgbClr val="3C3C3C"/>
                </a:solidFill>
                <a:effectLst/>
                <a:uFillTx/>
                <a:latin typeface="Calibri"/>
              </a:rPr>
              <a:t> Hospital Beds, Doctors count.</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Environment:</a:t>
            </a:r>
            <a:r>
              <a:rPr lang="en-US" sz="1300" b="0" u="none" strike="noStrike">
                <a:solidFill>
                  <a:srgbClr val="3C3C3C"/>
                </a:solidFill>
                <a:effectLst/>
                <a:uFillTx/>
                <a:latin typeface="Calibri"/>
              </a:rPr>
              <a:t> Air Quality Index (AQI).</a:t>
            </a:r>
            <a:endParaRPr lang="en-IN" sz="1300" b="0" u="none" strike="noStrike">
              <a:solidFill>
                <a:srgbClr val="000000"/>
              </a:solidFill>
              <a:effectLst/>
              <a:uFillTx/>
              <a:latin typeface="Arial"/>
            </a:endParaRPr>
          </a:p>
        </p:txBody>
      </p:sp>
      <p:sp>
        <p:nvSpPr>
          <p:cNvPr id="93" name="TextBox 6"/>
          <p:cNvSpPr/>
          <p:nvPr/>
        </p:nvSpPr>
        <p:spPr>
          <a:xfrm>
            <a:off x="6217920" y="1463040"/>
            <a:ext cx="521172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Data Preprocessing Pipeline:</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Missing Values:</a:t>
            </a:r>
            <a:r>
              <a:rPr lang="en-US" sz="1300" b="0" u="none" strike="noStrike">
                <a:solidFill>
                  <a:srgbClr val="3C3C3C"/>
                </a:solidFill>
                <a:effectLst/>
                <a:uFillTx/>
                <a:latin typeface="Calibri"/>
              </a:rPr>
              <a:t> Checked for nulls across all features; dataset is 100% complete.</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Deduplication:</a:t>
            </a:r>
            <a:r>
              <a:rPr lang="en-US" sz="1300" b="0" u="none" strike="noStrike">
                <a:solidFill>
                  <a:srgbClr val="3C3C3C"/>
                </a:solidFill>
                <a:effectLst/>
                <a:uFillTx/>
                <a:latin typeface="Calibri"/>
              </a:rPr>
              <a:t> Verified row uniqueness; zero duplicates detected.</a:t>
            </a:r>
            <a:endParaRPr lang="en-IN" sz="13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Descriptive Statistics: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Average Disease Cases:</a:t>
            </a:r>
            <a:r>
              <a:rPr lang="en-US" sz="1300" b="0" u="none" strike="noStrike">
                <a:solidFill>
                  <a:srgbClr val="3C3C3C"/>
                </a:solidFill>
                <a:effectLst/>
                <a:uFillTx/>
                <a:latin typeface="Calibri"/>
              </a:rPr>
              <a:t> 2,423.86 cases per state-month.</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Average Vaccination Rate:</a:t>
            </a:r>
            <a:r>
              <a:rPr lang="en-US" sz="1300" b="0" u="none" strike="noStrike">
                <a:solidFill>
                  <a:srgbClr val="3C3C3C"/>
                </a:solidFill>
                <a:effectLst/>
                <a:uFillTx/>
                <a:latin typeface="Calibri"/>
              </a:rPr>
              <a:t> 64.95%.</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Average Mortality Rate:</a:t>
            </a:r>
            <a:r>
              <a:rPr lang="en-US" sz="1300" b="0" u="none" strike="noStrike">
                <a:solidFill>
                  <a:srgbClr val="3C3C3C"/>
                </a:solidFill>
                <a:effectLst/>
                <a:uFillTx/>
                <a:latin typeface="Calibri"/>
              </a:rPr>
              <a:t> 1.80%.</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Average Air Quality Index:</a:t>
            </a:r>
            <a:r>
              <a:rPr lang="en-US" sz="1300" b="0" u="none" strike="noStrike">
                <a:solidFill>
                  <a:srgbClr val="3C3C3C"/>
                </a:solidFill>
                <a:effectLst/>
                <a:uFillTx/>
                <a:latin typeface="Calibri"/>
              </a:rPr>
              <a:t> 142.49 (Moderate to Poor quality range).</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94" name="TextBox 1"/>
          <p:cNvSpPr/>
          <p:nvPr/>
        </p:nvSpPr>
        <p:spPr>
          <a:xfrm>
            <a:off x="731520" y="457200"/>
            <a:ext cx="1072836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142850"/>
                </a:solidFill>
                <a:effectLst/>
                <a:uFillTx/>
                <a:latin typeface="Trebuchet MS"/>
              </a:rPr>
              <a:t>Database Design: Entity-Relationship (ER) Diagram</a:t>
            </a:r>
            <a:endParaRPr lang="en-IN" sz="2800" b="0" u="none" strike="noStrike">
              <a:solidFill>
                <a:srgbClr val="000000"/>
              </a:solidFill>
              <a:effectLst/>
              <a:uFillTx/>
              <a:latin typeface="Arial"/>
            </a:endParaRPr>
          </a:p>
        </p:txBody>
      </p:sp>
      <p:sp>
        <p:nvSpPr>
          <p:cNvPr id="95" name="Rectangle 2"/>
          <p:cNvSpPr/>
          <p:nvPr/>
        </p:nvSpPr>
        <p:spPr>
          <a:xfrm>
            <a:off x="731520" y="1188720"/>
            <a:ext cx="10728360" cy="3636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96" name="TextBox 3"/>
          <p:cNvSpPr/>
          <p:nvPr/>
        </p:nvSpPr>
        <p:spPr>
          <a:xfrm>
            <a:off x="731520" y="6309360"/>
            <a:ext cx="822924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787878"/>
                </a:solidFill>
                <a:effectLst/>
                <a:uFillTx/>
                <a:latin typeface="Calibri"/>
              </a:rPr>
              <a:t>Public Health Analytics &amp; Predictive Modeling | External Project Review</a:t>
            </a:r>
            <a:endParaRPr lang="en-IN" sz="900" b="0" u="none" strike="noStrike">
              <a:solidFill>
                <a:srgbClr val="000000"/>
              </a:solidFill>
              <a:effectLst/>
              <a:uFillTx/>
              <a:latin typeface="Arial"/>
            </a:endParaRPr>
          </a:p>
        </p:txBody>
      </p:sp>
      <p:sp>
        <p:nvSpPr>
          <p:cNvPr id="97" name="TextBox 4"/>
          <p:cNvSpPr/>
          <p:nvPr/>
        </p:nvSpPr>
        <p:spPr>
          <a:xfrm>
            <a:off x="10515600" y="6309360"/>
            <a:ext cx="944280" cy="2739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787878"/>
                </a:solidFill>
                <a:effectLst/>
                <a:uFillTx/>
                <a:latin typeface="Calibri"/>
              </a:rPr>
              <a:t>Slide 6 of 19</a:t>
            </a:r>
            <a:endParaRPr lang="en-IN" sz="900" b="0" u="none" strike="noStrike">
              <a:solidFill>
                <a:srgbClr val="000000"/>
              </a:solidFill>
              <a:effectLst/>
              <a:uFillTx/>
              <a:latin typeface="Arial"/>
            </a:endParaRPr>
          </a:p>
        </p:txBody>
      </p:sp>
      <p:sp>
        <p:nvSpPr>
          <p:cNvPr id="98" name="Rectangle 5"/>
          <p:cNvSpPr/>
          <p:nvPr/>
        </p:nvSpPr>
        <p:spPr>
          <a:xfrm>
            <a:off x="731520" y="1828800"/>
            <a:ext cx="2285640" cy="365400"/>
          </a:xfrm>
          <a:prstGeom prst="rect">
            <a:avLst/>
          </a:prstGeom>
          <a:solidFill>
            <a:srgbClr val="142850"/>
          </a:solidFill>
          <a:ln>
            <a:solidFill>
              <a:srgbClr val="14285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457200">
              <a:lnSpc>
                <a:spcPct val="100000"/>
              </a:lnSpc>
            </a:pPr>
            <a:r>
              <a:rPr lang="en-US" sz="1200" b="1" u="none" strike="noStrike">
                <a:solidFill>
                  <a:srgbClr val="FFFFFF"/>
                </a:solidFill>
                <a:effectLst/>
                <a:uFillTx/>
                <a:latin typeface="Trebuchet MS"/>
              </a:rPr>
              <a:t>tbl_States</a:t>
            </a:r>
            <a:endParaRPr lang="en-IN" sz="1200" b="0" u="none" strike="noStrike">
              <a:solidFill>
                <a:srgbClr val="FFFFFF"/>
              </a:solidFill>
              <a:effectLst/>
              <a:uFillTx/>
              <a:latin typeface="Arial"/>
            </a:endParaRPr>
          </a:p>
        </p:txBody>
      </p:sp>
      <p:sp>
        <p:nvSpPr>
          <p:cNvPr id="99" name="Rectangle 6"/>
          <p:cNvSpPr/>
          <p:nvPr/>
        </p:nvSpPr>
        <p:spPr>
          <a:xfrm>
            <a:off x="731520" y="2194560"/>
            <a:ext cx="2285640" cy="1371240"/>
          </a:xfrm>
          <a:prstGeom prst="rect">
            <a:avLst/>
          </a:prstGeom>
          <a:solidFill>
            <a:srgbClr val="FFFFFF"/>
          </a:solidFill>
          <a:ln>
            <a:solidFill>
              <a:srgbClr val="14285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73080" rIns="73080" bIns="73080" anchor="ctr">
            <a:noAutofit/>
          </a:bodyPr>
          <a:p>
            <a:pPr algn="ctr" defTabSz="457200">
              <a:lnSpc>
                <a:spcPct val="100000"/>
              </a:lnSpc>
              <a:spcAft>
                <a:spcPts val="201"/>
              </a:spcAft>
            </a:pPr>
            <a:r>
              <a:rPr lang="en-US" sz="1000" b="1" u="none" strike="noStrike">
                <a:solidFill>
                  <a:srgbClr val="009688"/>
                </a:solidFill>
                <a:effectLst/>
                <a:uFillTx/>
                <a:latin typeface="Consolas"/>
              </a:rPr>
              <a:t>State_ID (PK) [INT]</a:t>
            </a:r>
            <a:endParaRPr lang="en-IN"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3C3C3C"/>
                </a:solidFill>
                <a:effectLst/>
                <a:uFillTx/>
                <a:latin typeface="Consolas"/>
              </a:rPr>
              <a:t>State_Name [VARCHAR]</a:t>
            </a:r>
            <a:endParaRPr lang="en-IN"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3C3C3C"/>
                </a:solidFill>
                <a:effectLst/>
                <a:uFillTx/>
                <a:latin typeface="Consolas"/>
              </a:rPr>
              <a:t>Population [BIGINT]</a:t>
            </a:r>
            <a:endParaRPr lang="en-IN" sz="1000" b="0" u="none" strike="noStrike">
              <a:solidFill>
                <a:srgbClr val="000000"/>
              </a:solidFill>
              <a:effectLst/>
              <a:uFillTx/>
              <a:latin typeface="Arial"/>
            </a:endParaRPr>
          </a:p>
        </p:txBody>
      </p:sp>
      <p:sp>
        <p:nvSpPr>
          <p:cNvPr id="100" name="Rectangle 7"/>
          <p:cNvSpPr/>
          <p:nvPr/>
        </p:nvSpPr>
        <p:spPr>
          <a:xfrm>
            <a:off x="4206240" y="1828800"/>
            <a:ext cx="2559960" cy="365400"/>
          </a:xfrm>
          <a:prstGeom prst="rect">
            <a:avLst/>
          </a:prstGeom>
          <a:solidFill>
            <a:srgbClr val="142850"/>
          </a:solidFill>
          <a:ln>
            <a:solidFill>
              <a:srgbClr val="14285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457200">
              <a:lnSpc>
                <a:spcPct val="100000"/>
              </a:lnSpc>
            </a:pPr>
            <a:r>
              <a:rPr lang="en-US" sz="1200" b="1" u="none" strike="noStrike">
                <a:solidFill>
                  <a:srgbClr val="FFFFFF"/>
                </a:solidFill>
                <a:effectLst/>
                <a:uFillTx/>
                <a:latin typeface="Trebuchet MS"/>
              </a:rPr>
              <a:t>tbl_Metrics</a:t>
            </a:r>
            <a:endParaRPr lang="en-IN" sz="1200" b="0" u="none" strike="noStrike">
              <a:solidFill>
                <a:srgbClr val="FFFFFF"/>
              </a:solidFill>
              <a:effectLst/>
              <a:uFillTx/>
              <a:latin typeface="Arial"/>
            </a:endParaRPr>
          </a:p>
        </p:txBody>
      </p:sp>
      <p:sp>
        <p:nvSpPr>
          <p:cNvPr id="101" name="Rectangle 8"/>
          <p:cNvSpPr/>
          <p:nvPr/>
        </p:nvSpPr>
        <p:spPr>
          <a:xfrm>
            <a:off x="4206240" y="2194560"/>
            <a:ext cx="2559960" cy="3657240"/>
          </a:xfrm>
          <a:prstGeom prst="rect">
            <a:avLst/>
          </a:prstGeom>
          <a:solidFill>
            <a:srgbClr val="FFFFFF"/>
          </a:solidFill>
          <a:ln>
            <a:solidFill>
              <a:srgbClr val="14285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73080" rIns="73080" bIns="73080" anchor="ctr">
            <a:noAutofit/>
          </a:bodyPr>
          <a:p>
            <a:pPr algn="ctr" defTabSz="457200">
              <a:lnSpc>
                <a:spcPct val="100000"/>
              </a:lnSpc>
              <a:spcAft>
                <a:spcPts val="201"/>
              </a:spcAft>
            </a:pPr>
            <a:r>
              <a:rPr lang="en-US" sz="1000" b="1" u="none" strike="noStrike">
                <a:solidFill>
                  <a:srgbClr val="009688"/>
                </a:solidFill>
                <a:effectLst/>
                <a:uFillTx/>
                <a:latin typeface="Consolas"/>
              </a:rPr>
              <a:t>Record_ID (PK) [INT]</a:t>
            </a:r>
            <a:endParaRPr lang="en-IN" sz="1000" b="0" u="none" strike="noStrike">
              <a:solidFill>
                <a:srgbClr val="000000"/>
              </a:solidFill>
              <a:effectLst/>
              <a:uFillTx/>
              <a:latin typeface="Arial"/>
            </a:endParaRPr>
          </a:p>
          <a:p>
            <a:pPr defTabSz="457200">
              <a:lnSpc>
                <a:spcPct val="100000"/>
              </a:lnSpc>
              <a:spcAft>
                <a:spcPts val="201"/>
              </a:spcAft>
            </a:pPr>
            <a:r>
              <a:rPr lang="en-US" sz="1000" b="1" u="none" strike="noStrike">
                <a:solidFill>
                  <a:srgbClr val="E06400"/>
                </a:solidFill>
                <a:effectLst/>
                <a:uFillTx/>
                <a:latin typeface="Consolas"/>
              </a:rPr>
              <a:t>State_ID (FK) [INT]</a:t>
            </a:r>
            <a:endParaRPr lang="en-IN"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3C3C3C"/>
                </a:solidFill>
                <a:effectLst/>
                <a:uFillTx/>
                <a:latin typeface="Consolas"/>
              </a:rPr>
              <a:t>Year [INT]</a:t>
            </a:r>
            <a:endParaRPr lang="en-IN"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3C3C3C"/>
                </a:solidFill>
                <a:effectLst/>
                <a:uFillTx/>
                <a:latin typeface="Consolas"/>
              </a:rPr>
              <a:t>Month [INT]</a:t>
            </a:r>
            <a:endParaRPr lang="en-IN"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3C3C3C"/>
                </a:solidFill>
                <a:effectLst/>
                <a:uFillTx/>
                <a:latin typeface="Consolas"/>
              </a:rPr>
              <a:t>Disease_Cases [INT]</a:t>
            </a:r>
            <a:endParaRPr lang="en-IN"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3C3C3C"/>
                </a:solidFill>
                <a:effectLst/>
                <a:uFillTx/>
                <a:latin typeface="Consolas"/>
              </a:rPr>
              <a:t>Vaccination_Rate [FLOAT]</a:t>
            </a:r>
            <a:endParaRPr lang="en-IN"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3C3C3C"/>
                </a:solidFill>
                <a:effectLst/>
                <a:uFillTx/>
                <a:latin typeface="Consolas"/>
              </a:rPr>
              <a:t>Hospital_Beds [INT]</a:t>
            </a:r>
            <a:endParaRPr lang="en-IN"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3C3C3C"/>
                </a:solidFill>
                <a:effectLst/>
                <a:uFillTx/>
                <a:latin typeface="Consolas"/>
              </a:rPr>
              <a:t>Doctors [INT]</a:t>
            </a:r>
            <a:endParaRPr lang="en-IN"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3C3C3C"/>
                </a:solidFill>
                <a:effectLst/>
                <a:uFillTx/>
                <a:latin typeface="Consolas"/>
              </a:rPr>
              <a:t>Mortality_Rate [FLOAT]</a:t>
            </a:r>
            <a:endParaRPr lang="en-IN" sz="1000" b="0" u="none" strike="noStrike">
              <a:solidFill>
                <a:srgbClr val="000000"/>
              </a:solidFill>
              <a:effectLst/>
              <a:uFillTx/>
              <a:latin typeface="Arial"/>
            </a:endParaRPr>
          </a:p>
          <a:p>
            <a:pPr defTabSz="457200">
              <a:lnSpc>
                <a:spcPct val="100000"/>
              </a:lnSpc>
              <a:spcAft>
                <a:spcPts val="201"/>
              </a:spcAft>
            </a:pPr>
            <a:r>
              <a:rPr lang="en-US" sz="1000" b="0" u="none" strike="noStrike">
                <a:solidFill>
                  <a:srgbClr val="3C3C3C"/>
                </a:solidFill>
                <a:effectLst/>
                <a:uFillTx/>
                <a:latin typeface="Consolas"/>
              </a:rPr>
              <a:t>Air_Quality_Index [INT]</a:t>
            </a:r>
            <a:endParaRPr lang="en-IN" sz="1000" b="0" u="none" strike="noStrike">
              <a:solidFill>
                <a:srgbClr val="000000"/>
              </a:solidFill>
              <a:effectLst/>
              <a:uFillTx/>
              <a:latin typeface="Arial"/>
            </a:endParaRPr>
          </a:p>
        </p:txBody>
      </p:sp>
      <p:sp>
        <p:nvSpPr>
          <p:cNvPr id="102" name="Rectangle 9"/>
          <p:cNvSpPr/>
          <p:nvPr/>
        </p:nvSpPr>
        <p:spPr>
          <a:xfrm>
            <a:off x="3017520" y="2541960"/>
            <a:ext cx="1188360" cy="2700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endParaRPr lang="en-US" sz="1800" b="0" u="none" strike="noStrike">
              <a:solidFill>
                <a:schemeClr val="lt1"/>
              </a:solidFill>
              <a:effectLst/>
              <a:uFillTx/>
              <a:latin typeface="Calibri"/>
            </a:endParaRPr>
          </a:p>
        </p:txBody>
      </p:sp>
      <p:sp>
        <p:nvSpPr>
          <p:cNvPr id="103" name="TextBox 10"/>
          <p:cNvSpPr/>
          <p:nvPr/>
        </p:nvSpPr>
        <p:spPr>
          <a:xfrm>
            <a:off x="3108960" y="2194560"/>
            <a:ext cx="365400" cy="273960"/>
          </a:xfrm>
          <a:prstGeom prst="rect">
            <a:avLst/>
          </a:prstGeom>
          <a:noFill/>
          <a:ln w="0">
            <a:noFill/>
          </a:ln>
        </p:spPr>
        <p:style>
          <a:lnRef idx="0"/>
          <a:fillRef idx="0"/>
          <a:effectRef idx="0"/>
          <a:fontRef idx="minor"/>
        </p:style>
        <p:txBody>
          <a:bodyPr wrap="none" lIns="0" tIns="0" rIns="90000" bIns="45000" anchor="t">
            <a:spAutoFit/>
          </a:bodyPr>
          <a:p>
            <a:pPr defTabSz="457200">
              <a:lnSpc>
                <a:spcPct val="100000"/>
              </a:lnSpc>
            </a:pPr>
            <a:r>
              <a:rPr lang="en-US" sz="1100" b="1" u="none" strike="noStrike">
                <a:solidFill>
                  <a:srgbClr val="142850"/>
                </a:solidFill>
                <a:effectLst/>
                <a:uFillTx/>
                <a:latin typeface="Consolas"/>
              </a:rPr>
              <a:t>1</a:t>
            </a:r>
            <a:endParaRPr lang="en-IN" sz="1100" b="0" u="none" strike="noStrike">
              <a:solidFill>
                <a:srgbClr val="000000"/>
              </a:solidFill>
              <a:effectLst/>
              <a:uFillTx/>
              <a:latin typeface="Arial"/>
            </a:endParaRPr>
          </a:p>
        </p:txBody>
      </p:sp>
      <p:sp>
        <p:nvSpPr>
          <p:cNvPr id="104" name="TextBox 11"/>
          <p:cNvSpPr/>
          <p:nvPr/>
        </p:nvSpPr>
        <p:spPr>
          <a:xfrm>
            <a:off x="3840480" y="2194560"/>
            <a:ext cx="365400" cy="273960"/>
          </a:xfrm>
          <a:prstGeom prst="rect">
            <a:avLst/>
          </a:prstGeom>
          <a:noFill/>
          <a:ln w="0">
            <a:noFill/>
          </a:ln>
        </p:spPr>
        <p:style>
          <a:lnRef idx="0"/>
          <a:fillRef idx="0"/>
          <a:effectRef idx="0"/>
          <a:fontRef idx="minor"/>
        </p:style>
        <p:txBody>
          <a:bodyPr wrap="none" lIns="0" tIns="0" rIns="90000" bIns="45000" anchor="t">
            <a:spAutoFit/>
          </a:bodyPr>
          <a:p>
            <a:pPr defTabSz="457200">
              <a:lnSpc>
                <a:spcPct val="100000"/>
              </a:lnSpc>
            </a:pPr>
            <a:r>
              <a:rPr lang="en-US" sz="1100" b="1" u="none" strike="noStrike">
                <a:solidFill>
                  <a:srgbClr val="142850"/>
                </a:solidFill>
                <a:effectLst/>
                <a:uFillTx/>
                <a:latin typeface="Consolas"/>
              </a:rPr>
              <a:t>N (∞)</a:t>
            </a:r>
            <a:endParaRPr lang="en-IN" sz="1100" b="0" u="none" strike="noStrike">
              <a:solidFill>
                <a:srgbClr val="000000"/>
              </a:solidFill>
              <a:effectLst/>
              <a:uFillTx/>
              <a:latin typeface="Arial"/>
            </a:endParaRPr>
          </a:p>
        </p:txBody>
      </p:sp>
      <p:sp>
        <p:nvSpPr>
          <p:cNvPr id="105" name="TextBox 12"/>
          <p:cNvSpPr/>
          <p:nvPr/>
        </p:nvSpPr>
        <p:spPr>
          <a:xfrm>
            <a:off x="7315200" y="1828800"/>
            <a:ext cx="4114440" cy="41144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Database Normalization:</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To ensure data integrity and avoid redundancy, the flat CSV structure is mapped to a normalized relational schema.</a:t>
            </a:r>
            <a:endParaRPr lang="en-IN" sz="13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Entity Details: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tbl_States:</a:t>
            </a:r>
            <a:r>
              <a:rPr lang="en-US" sz="1300" b="0" u="none" strike="noStrike">
                <a:solidFill>
                  <a:srgbClr val="3C3C3C"/>
                </a:solidFill>
                <a:effectLst/>
                <a:uFillTx/>
                <a:latin typeface="Calibri"/>
              </a:rPr>
              <a:t> Stores static regional properties (Name, Population).</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tbl_Metrics:</a:t>
            </a:r>
            <a:r>
              <a:rPr lang="en-US" sz="1300" b="0" u="none" strike="noStrike">
                <a:solidFill>
                  <a:srgbClr val="3C3C3C"/>
                </a:solidFill>
                <a:effectLst/>
                <a:uFillTx/>
                <a:latin typeface="Calibri"/>
              </a:rPr>
              <a:t> Stores time-series monthly environmental, medical resource, and epidemiologic data.</a:t>
            </a:r>
            <a:endParaRPr lang="en-IN" sz="13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Relationship Logic:</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1-to-Many Relationship:</a:t>
            </a:r>
            <a:r>
              <a:rPr lang="en-US" sz="1300" b="0" u="none" strike="noStrike">
                <a:solidFill>
                  <a:srgbClr val="3C3C3C"/>
                </a:solidFill>
                <a:effectLst/>
                <a:uFillTx/>
                <a:latin typeface="Calibri"/>
              </a:rPr>
              <a:t> One state in `tbl_States` maps to multiple monthly records in `tbl_Metrics` (joined on `State_ID`).</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06" name="TextBox 1"/>
          <p:cNvSpPr/>
          <p:nvPr/>
        </p:nvSpPr>
        <p:spPr>
          <a:xfrm>
            <a:off x="731520" y="457200"/>
            <a:ext cx="1072836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142850"/>
                </a:solidFill>
                <a:effectLst/>
                <a:uFillTx/>
                <a:latin typeface="Trebuchet MS"/>
              </a:rPr>
              <a:t>Health Vulnerability Index (HVI) Formulation</a:t>
            </a:r>
            <a:endParaRPr lang="en-IN" sz="2800" b="0" u="none" strike="noStrike">
              <a:solidFill>
                <a:srgbClr val="000000"/>
              </a:solidFill>
              <a:effectLst/>
              <a:uFillTx/>
              <a:latin typeface="Arial"/>
            </a:endParaRPr>
          </a:p>
        </p:txBody>
      </p:sp>
      <p:sp>
        <p:nvSpPr>
          <p:cNvPr id="107" name="Rectangle 2"/>
          <p:cNvSpPr/>
          <p:nvPr/>
        </p:nvSpPr>
        <p:spPr>
          <a:xfrm>
            <a:off x="731520" y="1188720"/>
            <a:ext cx="10728360" cy="3636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08" name="TextBox 3"/>
          <p:cNvSpPr/>
          <p:nvPr/>
        </p:nvSpPr>
        <p:spPr>
          <a:xfrm>
            <a:off x="731520" y="6309360"/>
            <a:ext cx="822924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787878"/>
                </a:solidFill>
                <a:effectLst/>
                <a:uFillTx/>
                <a:latin typeface="Calibri"/>
              </a:rPr>
              <a:t>Public Health Analytics &amp; Predictive Modeling | External Project Review</a:t>
            </a:r>
            <a:endParaRPr lang="en-IN" sz="900" b="0" u="none" strike="noStrike">
              <a:solidFill>
                <a:srgbClr val="000000"/>
              </a:solidFill>
              <a:effectLst/>
              <a:uFillTx/>
              <a:latin typeface="Arial"/>
            </a:endParaRPr>
          </a:p>
        </p:txBody>
      </p:sp>
      <p:sp>
        <p:nvSpPr>
          <p:cNvPr id="109" name="TextBox 4"/>
          <p:cNvSpPr/>
          <p:nvPr/>
        </p:nvSpPr>
        <p:spPr>
          <a:xfrm>
            <a:off x="10515600" y="6309360"/>
            <a:ext cx="944280" cy="2739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787878"/>
                </a:solidFill>
                <a:effectLst/>
                <a:uFillTx/>
                <a:latin typeface="Calibri"/>
              </a:rPr>
              <a:t>Slide 7 of 19</a:t>
            </a:r>
            <a:endParaRPr lang="en-IN" sz="900" b="0" u="none" strike="noStrike">
              <a:solidFill>
                <a:srgbClr val="000000"/>
              </a:solidFill>
              <a:effectLst/>
              <a:uFillTx/>
              <a:latin typeface="Arial"/>
            </a:endParaRPr>
          </a:p>
        </p:txBody>
      </p:sp>
      <p:sp>
        <p:nvSpPr>
          <p:cNvPr id="110" name="TextBox 5"/>
          <p:cNvSpPr/>
          <p:nvPr/>
        </p:nvSpPr>
        <p:spPr>
          <a:xfrm>
            <a:off x="731520" y="1463040"/>
            <a:ext cx="512028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Why Develop HVI?</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Raw disease case counts fail to represent infrastructure preparedness or medical severity.</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HVI aggregates disease burden, mortality risk, community susceptibility, and resource shortages into a single, standardized index.</a:t>
            </a:r>
            <a:endParaRPr lang="en-IN" sz="13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Index Range:</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Ranges strictly from </a:t>
            </a:r>
            <a:r>
              <a:rPr lang="en-US" sz="1300" b="1" u="none" strike="noStrike">
                <a:solidFill>
                  <a:srgbClr val="142850"/>
                </a:solidFill>
                <a:effectLst/>
                <a:uFillTx/>
                <a:latin typeface="Calibri"/>
              </a:rPr>
              <a:t>0.0</a:t>
            </a:r>
            <a:r>
              <a:rPr lang="en-US" sz="1300" b="0" u="none" strike="noStrike">
                <a:solidFill>
                  <a:srgbClr val="3C3C3C"/>
                </a:solidFill>
                <a:effectLst/>
                <a:uFillTx/>
                <a:latin typeface="Calibri"/>
              </a:rPr>
              <a:t> (most resilient/healthiest) to </a:t>
            </a:r>
            <a:r>
              <a:rPr lang="en-US" sz="1300" b="1" u="none" strike="noStrike">
                <a:solidFill>
                  <a:srgbClr val="142850"/>
                </a:solidFill>
                <a:effectLst/>
                <a:uFillTx/>
                <a:latin typeface="Calibri"/>
              </a:rPr>
              <a:t>1.0</a:t>
            </a:r>
            <a:r>
              <a:rPr lang="en-US" sz="1300" b="0" u="none" strike="noStrike">
                <a:solidFill>
                  <a:srgbClr val="3C3C3C"/>
                </a:solidFill>
                <a:effectLst/>
                <a:uFillTx/>
                <a:latin typeface="Calibri"/>
              </a:rPr>
              <a:t> (most vulnerable/critical risk).</a:t>
            </a:r>
            <a:endParaRPr lang="en-IN" sz="1300" b="0" u="none" strike="noStrike">
              <a:solidFill>
                <a:srgbClr val="000000"/>
              </a:solidFill>
              <a:effectLst/>
              <a:uFillTx/>
              <a:latin typeface="Arial"/>
            </a:endParaRPr>
          </a:p>
        </p:txBody>
      </p:sp>
      <p:sp>
        <p:nvSpPr>
          <p:cNvPr id="111" name="TextBox 6"/>
          <p:cNvSpPr/>
          <p:nvPr/>
        </p:nvSpPr>
        <p:spPr>
          <a:xfrm>
            <a:off x="6217920" y="1463040"/>
            <a:ext cx="521172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HVI Formula &amp; Weighting Logic:</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HVI = (Cases / Max_Cases) * 0.4</a:t>
            </a:r>
            <a:endParaRPr lang="en-IN" sz="1300" b="0" u="none" strike="noStrike">
              <a:solidFill>
                <a:srgbClr val="000000"/>
              </a:solidFill>
              <a:effectLst/>
              <a:uFillTx/>
              <a:latin typeface="Arial"/>
            </a:endParaRPr>
          </a:p>
          <a:p>
            <a:pPr marL="1828800" defTabSz="457200">
              <a:lnSpc>
                <a:spcPct val="100000"/>
              </a:lnSpc>
              <a:spcAft>
                <a:spcPts val="799"/>
              </a:spcAft>
            </a:pPr>
            <a:r>
              <a:rPr lang="en-US" sz="1000" b="0" u="none" strike="noStrike">
                <a:solidFill>
                  <a:srgbClr val="3C3C3C"/>
                </a:solidFill>
                <a:effectLst/>
                <a:uFillTx/>
                <a:latin typeface="Calibri"/>
              </a:rPr>
              <a:t>+ (Mortality / Max_Mortality) * 0.3</a:t>
            </a:r>
            <a:endParaRPr lang="en-IN" sz="1000" b="0" u="none" strike="noStrike">
              <a:solidFill>
                <a:srgbClr val="000000"/>
              </a:solidFill>
              <a:effectLst/>
              <a:uFillTx/>
              <a:latin typeface="Arial"/>
            </a:endParaRPr>
          </a:p>
          <a:p>
            <a:pPr marL="1828800" defTabSz="457200">
              <a:lnSpc>
                <a:spcPct val="100000"/>
              </a:lnSpc>
              <a:spcAft>
                <a:spcPts val="799"/>
              </a:spcAft>
            </a:pPr>
            <a:r>
              <a:rPr lang="en-US" sz="1000" b="0" u="none" strike="noStrike">
                <a:solidFill>
                  <a:srgbClr val="3C3C3C"/>
                </a:solidFill>
                <a:effectLst/>
                <a:uFillTx/>
                <a:latin typeface="Calibri"/>
              </a:rPr>
              <a:t>+ (1 - Vaccination / 100) * 0.2</a:t>
            </a:r>
            <a:endParaRPr lang="en-IN" sz="1000" b="0" u="none" strike="noStrike">
              <a:solidFill>
                <a:srgbClr val="000000"/>
              </a:solidFill>
              <a:effectLst/>
              <a:uFillTx/>
              <a:latin typeface="Arial"/>
            </a:endParaRPr>
          </a:p>
          <a:p>
            <a:pPr marL="1828800" defTabSz="457200">
              <a:lnSpc>
                <a:spcPct val="100000"/>
              </a:lnSpc>
              <a:spcAft>
                <a:spcPts val="799"/>
              </a:spcAft>
            </a:pPr>
            <a:r>
              <a:rPr lang="en-US" sz="1000" b="0" u="none" strike="noStrike">
                <a:solidFill>
                  <a:srgbClr val="3C3C3C"/>
                </a:solidFill>
                <a:effectLst/>
                <a:uFillTx/>
                <a:latin typeface="Calibri"/>
              </a:rPr>
              <a:t>+ (1 - Beds / Max_Beds) * 0.1</a:t>
            </a:r>
            <a:endParaRPr lang="en-IN" sz="10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Rationale behind Weights: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Active Case Load (40%):</a:t>
            </a:r>
            <a:r>
              <a:rPr lang="en-US" sz="1300" b="0" u="none" strike="noStrike">
                <a:solidFill>
                  <a:srgbClr val="3C3C3C"/>
                </a:solidFill>
                <a:effectLst/>
                <a:uFillTx/>
                <a:latin typeface="Calibri"/>
              </a:rPr>
              <a:t> Outbreak scale is the primary risk driver.</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Mortality Rate (30%):</a:t>
            </a:r>
            <a:r>
              <a:rPr lang="en-US" sz="1300" b="0" u="none" strike="noStrike">
                <a:solidFill>
                  <a:srgbClr val="3C3C3C"/>
                </a:solidFill>
                <a:effectLst/>
                <a:uFillTx/>
                <a:latin typeface="Calibri"/>
              </a:rPr>
              <a:t> Represents clinical severity.</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Susceptibility (20%):</a:t>
            </a:r>
            <a:r>
              <a:rPr lang="en-US" sz="1300" b="0" u="none" strike="noStrike">
                <a:solidFill>
                  <a:srgbClr val="3C3C3C"/>
                </a:solidFill>
                <a:effectLst/>
                <a:uFillTx/>
                <a:latin typeface="Calibri"/>
              </a:rPr>
              <a:t> Represents unvaccinated population scale.</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Resource Shortage (10%):</a:t>
            </a:r>
            <a:r>
              <a:rPr lang="en-US" sz="1300" b="0" u="none" strike="noStrike">
                <a:solidFill>
                  <a:srgbClr val="3C3C3C"/>
                </a:solidFill>
                <a:effectLst/>
                <a:uFillTx/>
                <a:latin typeface="Calibri"/>
              </a:rPr>
              <a:t> Reflects lack of beds.</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12" name="TextBox 1"/>
          <p:cNvSpPr/>
          <p:nvPr/>
        </p:nvSpPr>
        <p:spPr>
          <a:xfrm>
            <a:off x="731520" y="457200"/>
            <a:ext cx="1072836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142850"/>
                </a:solidFill>
                <a:effectLst/>
                <a:uFillTx/>
                <a:latin typeface="Trebuchet MS"/>
              </a:rPr>
              <a:t>Objective 1: Correlation Analysis</a:t>
            </a:r>
            <a:endParaRPr lang="en-IN" sz="2800" b="0" u="none" strike="noStrike">
              <a:solidFill>
                <a:srgbClr val="000000"/>
              </a:solidFill>
              <a:effectLst/>
              <a:uFillTx/>
              <a:latin typeface="Arial"/>
            </a:endParaRPr>
          </a:p>
        </p:txBody>
      </p:sp>
      <p:sp>
        <p:nvSpPr>
          <p:cNvPr id="113" name="Rectangle 2"/>
          <p:cNvSpPr/>
          <p:nvPr/>
        </p:nvSpPr>
        <p:spPr>
          <a:xfrm>
            <a:off x="731520" y="1188720"/>
            <a:ext cx="10728360" cy="3636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14" name="TextBox 3"/>
          <p:cNvSpPr/>
          <p:nvPr/>
        </p:nvSpPr>
        <p:spPr>
          <a:xfrm>
            <a:off x="731520" y="6309360"/>
            <a:ext cx="822924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787878"/>
                </a:solidFill>
                <a:effectLst/>
                <a:uFillTx/>
                <a:latin typeface="Calibri"/>
              </a:rPr>
              <a:t>Public Health Analytics &amp; Predictive Modeling | External Project Review</a:t>
            </a:r>
            <a:endParaRPr lang="en-IN" sz="900" b="0" u="none" strike="noStrike">
              <a:solidFill>
                <a:srgbClr val="000000"/>
              </a:solidFill>
              <a:effectLst/>
              <a:uFillTx/>
              <a:latin typeface="Arial"/>
            </a:endParaRPr>
          </a:p>
        </p:txBody>
      </p:sp>
      <p:sp>
        <p:nvSpPr>
          <p:cNvPr id="115" name="TextBox 4"/>
          <p:cNvSpPr/>
          <p:nvPr/>
        </p:nvSpPr>
        <p:spPr>
          <a:xfrm>
            <a:off x="10515600" y="6309360"/>
            <a:ext cx="944280" cy="2739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787878"/>
                </a:solidFill>
                <a:effectLst/>
                <a:uFillTx/>
                <a:latin typeface="Calibri"/>
              </a:rPr>
              <a:t>Slide 8 of 19</a:t>
            </a:r>
            <a:endParaRPr lang="en-IN" sz="900" b="0" u="none" strike="noStrike">
              <a:solidFill>
                <a:srgbClr val="000000"/>
              </a:solidFill>
              <a:effectLst/>
              <a:uFillTx/>
              <a:latin typeface="Arial"/>
            </a:endParaRPr>
          </a:p>
        </p:txBody>
      </p:sp>
      <p:sp>
        <p:nvSpPr>
          <p:cNvPr id="116" name="TextBox 5"/>
          <p:cNvSpPr/>
          <p:nvPr/>
        </p:nvSpPr>
        <p:spPr>
          <a:xfrm>
            <a:off x="731520" y="1463040"/>
            <a:ext cx="493740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Objective:</a:t>
            </a:r>
            <a:r>
              <a:rPr lang="en-US" sz="1400" b="0" u="none" strike="noStrike">
                <a:solidFill>
                  <a:srgbClr val="3C3C3C"/>
                </a:solidFill>
                <a:effectLst/>
                <a:uFillTx/>
                <a:latin typeface="Calibri"/>
              </a:rPr>
              <a:t> Map relationships between environmental, infrastructure, demographic, and clinical variables.</a:t>
            </a:r>
            <a:endParaRPr lang="en-IN" sz="14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Key Findings from Heatmap:</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Vaccination Efficacy:</a:t>
            </a:r>
            <a:r>
              <a:rPr lang="en-US" sz="1300" b="0" u="none" strike="noStrike">
                <a:solidFill>
                  <a:srgbClr val="3C3C3C"/>
                </a:solidFill>
                <a:effectLst/>
                <a:uFillTx/>
                <a:latin typeface="Calibri"/>
              </a:rPr>
              <a:t> Strong negative correlation between `Vaccination_Rate` and `Disease_Cases` (-0.81). As vaccination coverage increases, active disease cases drop dramatically.</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Environmental Triggers:</a:t>
            </a:r>
            <a:r>
              <a:rPr lang="en-US" sz="1300" b="0" u="none" strike="noStrike">
                <a:solidFill>
                  <a:srgbClr val="3C3C3C"/>
                </a:solidFill>
                <a:effectLst/>
                <a:uFillTx/>
                <a:latin typeface="Calibri"/>
              </a:rPr>
              <a:t> Strong positive correlation between `Air_Quality_Index` and `Disease_Cases` (+0.68). Deteriorating air quality aligns with higher disease counts.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Outbreak Severity:</a:t>
            </a:r>
            <a:r>
              <a:rPr lang="en-US" sz="1300" b="0" u="none" strike="noStrike">
                <a:solidFill>
                  <a:srgbClr val="3C3C3C"/>
                </a:solidFill>
                <a:effectLst/>
                <a:uFillTx/>
                <a:latin typeface="Calibri"/>
              </a:rPr>
              <a:t> High correlation between `Disease_Cases` and `Mortality_Rate` (+0.75), showing that larger outbreaks are linked to higher death rates.</a:t>
            </a:r>
            <a:endParaRPr lang="en-IN" sz="1300" b="0" u="none" strike="noStrike">
              <a:solidFill>
                <a:srgbClr val="000000"/>
              </a:solidFill>
              <a:effectLst/>
              <a:uFillTx/>
              <a:latin typeface="Arial"/>
            </a:endParaRPr>
          </a:p>
        </p:txBody>
      </p:sp>
      <p:pic>
        <p:nvPicPr>
          <p:cNvPr id="117" name="Picture 6" descr="correlation_heatmap.png"/>
          <p:cNvPicPr/>
          <p:nvPr/>
        </p:nvPicPr>
        <p:blipFill>
          <a:blip r:embed="rId1"/>
          <a:stretch/>
        </p:blipFill>
        <p:spPr>
          <a:xfrm>
            <a:off x="6035040" y="1463040"/>
            <a:ext cx="5394600" cy="395424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18" name="TextBox 1"/>
          <p:cNvSpPr/>
          <p:nvPr/>
        </p:nvSpPr>
        <p:spPr>
          <a:xfrm>
            <a:off x="731520" y="457200"/>
            <a:ext cx="1072836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142850"/>
                </a:solidFill>
                <a:effectLst/>
                <a:uFillTx/>
                <a:latin typeface="Trebuchet MS"/>
              </a:rPr>
              <a:t>Objective 2: Temporal Trends (Average Cases by Month)</a:t>
            </a:r>
            <a:endParaRPr lang="en-IN" sz="2800" b="0" u="none" strike="noStrike">
              <a:solidFill>
                <a:srgbClr val="000000"/>
              </a:solidFill>
              <a:effectLst/>
              <a:uFillTx/>
              <a:latin typeface="Arial"/>
            </a:endParaRPr>
          </a:p>
        </p:txBody>
      </p:sp>
      <p:sp>
        <p:nvSpPr>
          <p:cNvPr id="119" name="Rectangle 2"/>
          <p:cNvSpPr/>
          <p:nvPr/>
        </p:nvSpPr>
        <p:spPr>
          <a:xfrm>
            <a:off x="731520" y="1188720"/>
            <a:ext cx="10728360" cy="3636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20" name="TextBox 3"/>
          <p:cNvSpPr/>
          <p:nvPr/>
        </p:nvSpPr>
        <p:spPr>
          <a:xfrm>
            <a:off x="731520" y="6309360"/>
            <a:ext cx="822924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787878"/>
                </a:solidFill>
                <a:effectLst/>
                <a:uFillTx/>
                <a:latin typeface="Calibri"/>
              </a:rPr>
              <a:t>Public Health Analytics &amp; Predictive Modeling | External Project Review</a:t>
            </a:r>
            <a:endParaRPr lang="en-IN" sz="900" b="0" u="none" strike="noStrike">
              <a:solidFill>
                <a:srgbClr val="000000"/>
              </a:solidFill>
              <a:effectLst/>
              <a:uFillTx/>
              <a:latin typeface="Arial"/>
            </a:endParaRPr>
          </a:p>
        </p:txBody>
      </p:sp>
      <p:sp>
        <p:nvSpPr>
          <p:cNvPr id="121" name="TextBox 4"/>
          <p:cNvSpPr/>
          <p:nvPr/>
        </p:nvSpPr>
        <p:spPr>
          <a:xfrm>
            <a:off x="10515600" y="6309360"/>
            <a:ext cx="944280" cy="2739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787878"/>
                </a:solidFill>
                <a:effectLst/>
                <a:uFillTx/>
                <a:latin typeface="Calibri"/>
              </a:rPr>
              <a:t>Slide 9 of 19</a:t>
            </a:r>
            <a:endParaRPr lang="en-IN" sz="900" b="0" u="none" strike="noStrike">
              <a:solidFill>
                <a:srgbClr val="000000"/>
              </a:solidFill>
              <a:effectLst/>
              <a:uFillTx/>
              <a:latin typeface="Arial"/>
            </a:endParaRPr>
          </a:p>
        </p:txBody>
      </p:sp>
      <p:sp>
        <p:nvSpPr>
          <p:cNvPr id="122" name="TextBox 5"/>
          <p:cNvSpPr/>
          <p:nvPr/>
        </p:nvSpPr>
        <p:spPr>
          <a:xfrm>
            <a:off x="731520" y="1463040"/>
            <a:ext cx="493740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Objective:</a:t>
            </a:r>
            <a:r>
              <a:rPr lang="en-US" sz="1400" b="0" u="none" strike="noStrike">
                <a:solidFill>
                  <a:srgbClr val="3C3C3C"/>
                </a:solidFill>
                <a:effectLst/>
                <a:uFillTx/>
                <a:latin typeface="Calibri"/>
              </a:rPr>
              <a:t> Identify monthly and seasonal trends in disease transmission to inform planning.</a:t>
            </a:r>
            <a:endParaRPr lang="en-IN" sz="14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Observations: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Seasonal Surge:</a:t>
            </a:r>
            <a:r>
              <a:rPr lang="en-US" sz="1300" b="0" u="none" strike="noStrike">
                <a:solidFill>
                  <a:srgbClr val="3C3C3C"/>
                </a:solidFill>
                <a:effectLst/>
                <a:uFillTx/>
                <a:latin typeface="Calibri"/>
              </a:rPr>
              <a:t> Cases climb steadily in spring, peaking during mid-year months (Months 6 to 8). This matches monsoon seasons with high humidity in India.</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Winter Decline:</a:t>
            </a:r>
            <a:r>
              <a:rPr lang="en-US" sz="1300" b="0" u="none" strike="noStrike">
                <a:solidFill>
                  <a:srgbClr val="3C3C3C"/>
                </a:solidFill>
                <a:effectLst/>
                <a:uFillTx/>
                <a:latin typeface="Calibri"/>
              </a:rPr>
              <a:t> Caseloads drop significantly during winter months (Months 11 to 1).</a:t>
            </a:r>
            <a:endParaRPr lang="en-IN" sz="13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Actionable Strategy:</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Proactively pre-position vaccines, diagnostic kits, and staff in regional clinics prior to Month 6.</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Plan routine maintenance of medical facilities during the low-burden winter months.</a:t>
            </a:r>
            <a:endParaRPr lang="en-IN" sz="1300" b="0" u="none" strike="noStrike">
              <a:solidFill>
                <a:srgbClr val="000000"/>
              </a:solidFill>
              <a:effectLst/>
              <a:uFillTx/>
              <a:latin typeface="Arial"/>
            </a:endParaRPr>
          </a:p>
        </p:txBody>
      </p:sp>
      <p:pic>
        <p:nvPicPr>
          <p:cNvPr id="123" name="Picture 6" descr="disease_cases_by_month.png"/>
          <p:cNvPicPr/>
          <p:nvPr/>
        </p:nvPicPr>
        <p:blipFill>
          <a:blip r:embed="rId1"/>
          <a:stretch/>
        </p:blipFill>
        <p:spPr>
          <a:xfrm>
            <a:off x="6035040" y="1463040"/>
            <a:ext cx="5394600" cy="294408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24" name="TextBox 1"/>
          <p:cNvSpPr/>
          <p:nvPr/>
        </p:nvSpPr>
        <p:spPr>
          <a:xfrm>
            <a:off x="731520" y="457200"/>
            <a:ext cx="1072836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142850"/>
                </a:solidFill>
                <a:effectLst/>
                <a:uFillTx/>
                <a:latin typeface="Trebuchet MS"/>
              </a:rPr>
              <a:t>Objective 3: State-wise Disease Burden</a:t>
            </a:r>
            <a:endParaRPr lang="en-IN" sz="2800" b="0" u="none" strike="noStrike">
              <a:solidFill>
                <a:srgbClr val="000000"/>
              </a:solidFill>
              <a:effectLst/>
              <a:uFillTx/>
              <a:latin typeface="Arial"/>
            </a:endParaRPr>
          </a:p>
        </p:txBody>
      </p:sp>
      <p:sp>
        <p:nvSpPr>
          <p:cNvPr id="125" name="Rectangle 2"/>
          <p:cNvSpPr/>
          <p:nvPr/>
        </p:nvSpPr>
        <p:spPr>
          <a:xfrm>
            <a:off x="731520" y="1188720"/>
            <a:ext cx="10728360" cy="3636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26" name="TextBox 3"/>
          <p:cNvSpPr/>
          <p:nvPr/>
        </p:nvSpPr>
        <p:spPr>
          <a:xfrm>
            <a:off x="731520" y="6309360"/>
            <a:ext cx="822924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787878"/>
                </a:solidFill>
                <a:effectLst/>
                <a:uFillTx/>
                <a:latin typeface="Calibri"/>
              </a:rPr>
              <a:t>Public Health Analytics &amp; Predictive Modeling | External Project Review</a:t>
            </a:r>
            <a:endParaRPr lang="en-IN" sz="900" b="0" u="none" strike="noStrike">
              <a:solidFill>
                <a:srgbClr val="000000"/>
              </a:solidFill>
              <a:effectLst/>
              <a:uFillTx/>
              <a:latin typeface="Arial"/>
            </a:endParaRPr>
          </a:p>
        </p:txBody>
      </p:sp>
      <p:sp>
        <p:nvSpPr>
          <p:cNvPr id="127" name="TextBox 4"/>
          <p:cNvSpPr/>
          <p:nvPr/>
        </p:nvSpPr>
        <p:spPr>
          <a:xfrm>
            <a:off x="10515600" y="6309360"/>
            <a:ext cx="944280" cy="2739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787878"/>
                </a:solidFill>
                <a:effectLst/>
                <a:uFillTx/>
                <a:latin typeface="Calibri"/>
              </a:rPr>
              <a:t>Slide 10 of 19</a:t>
            </a:r>
            <a:endParaRPr lang="en-IN" sz="900" b="0" u="none" strike="noStrike">
              <a:solidFill>
                <a:srgbClr val="000000"/>
              </a:solidFill>
              <a:effectLst/>
              <a:uFillTx/>
              <a:latin typeface="Arial"/>
            </a:endParaRPr>
          </a:p>
        </p:txBody>
      </p:sp>
      <p:sp>
        <p:nvSpPr>
          <p:cNvPr id="128" name="TextBox 5"/>
          <p:cNvSpPr/>
          <p:nvPr/>
        </p:nvSpPr>
        <p:spPr>
          <a:xfrm>
            <a:off x="731520" y="1463040"/>
            <a:ext cx="493740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Objective:</a:t>
            </a:r>
            <a:r>
              <a:rPr lang="en-US" sz="1400" b="0" u="none" strike="noStrike">
                <a:solidFill>
                  <a:srgbClr val="3C3C3C"/>
                </a:solidFill>
                <a:effectLst/>
                <a:uFillTx/>
                <a:latin typeface="Calibri"/>
              </a:rPr>
              <a:t> Quantify geographical differences in disease burden.</a:t>
            </a:r>
            <a:endParaRPr lang="en-IN" sz="14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Observations: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High-Caseload States:</a:t>
            </a:r>
            <a:r>
              <a:rPr lang="en-US" sz="1300" b="0" u="none" strike="noStrike">
                <a:solidFill>
                  <a:srgbClr val="3C3C3C"/>
                </a:solidFill>
                <a:effectLst/>
                <a:uFillTx/>
                <a:latin typeface="Calibri"/>
              </a:rPr>
              <a:t> West Bengal, Maharashtra, and Delhi lead in average monthly cases.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Low-Caseload States:</a:t>
            </a:r>
            <a:r>
              <a:rPr lang="en-US" sz="1300" b="0" u="none" strike="noStrike">
                <a:solidFill>
                  <a:srgbClr val="3C3C3C"/>
                </a:solidFill>
                <a:effectLst/>
                <a:uFillTx/>
                <a:latin typeface="Calibri"/>
              </a:rPr>
              <a:t> Karnataka, Kerala, and Tamil Nadu exhibit lower caseloads despite dense populations.</a:t>
            </a:r>
            <a:endParaRPr lang="en-IN" sz="13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Policy Takeaway:</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Direct central health budgets and resource reserves to West Bengal and Maharashtra.</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Conduct comparative studies to benchmark Kerala and Tamil Nadu's primary care models.</a:t>
            </a:r>
            <a:endParaRPr lang="en-IN" sz="1300" b="0" u="none" strike="noStrike">
              <a:solidFill>
                <a:srgbClr val="000000"/>
              </a:solidFill>
              <a:effectLst/>
              <a:uFillTx/>
              <a:latin typeface="Arial"/>
            </a:endParaRPr>
          </a:p>
        </p:txBody>
      </p:sp>
      <p:pic>
        <p:nvPicPr>
          <p:cNvPr id="129" name="Picture 6" descr="state_wise_disease_cases.png"/>
          <p:cNvPicPr/>
          <p:nvPr/>
        </p:nvPicPr>
        <p:blipFill>
          <a:blip r:embed="rId1"/>
          <a:stretch/>
        </p:blipFill>
        <p:spPr>
          <a:xfrm>
            <a:off x="6035040" y="1463040"/>
            <a:ext cx="5394600" cy="276120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30" name="TextBox 1"/>
          <p:cNvSpPr/>
          <p:nvPr/>
        </p:nvSpPr>
        <p:spPr>
          <a:xfrm>
            <a:off x="731520" y="457200"/>
            <a:ext cx="1072836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142850"/>
                </a:solidFill>
                <a:effectLst/>
                <a:uFillTx/>
                <a:latin typeface="Trebuchet MS"/>
              </a:rPr>
              <a:t>Objective 4: Vaccination Impact</a:t>
            </a:r>
            <a:endParaRPr lang="en-IN" sz="2800" b="0" u="none" strike="noStrike">
              <a:solidFill>
                <a:srgbClr val="000000"/>
              </a:solidFill>
              <a:effectLst/>
              <a:uFillTx/>
              <a:latin typeface="Arial"/>
            </a:endParaRPr>
          </a:p>
        </p:txBody>
      </p:sp>
      <p:sp>
        <p:nvSpPr>
          <p:cNvPr id="131" name="Rectangle 2"/>
          <p:cNvSpPr/>
          <p:nvPr/>
        </p:nvSpPr>
        <p:spPr>
          <a:xfrm>
            <a:off x="731520" y="1188720"/>
            <a:ext cx="10728360" cy="3636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32" name="TextBox 3"/>
          <p:cNvSpPr/>
          <p:nvPr/>
        </p:nvSpPr>
        <p:spPr>
          <a:xfrm>
            <a:off x="731520" y="6309360"/>
            <a:ext cx="822924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787878"/>
                </a:solidFill>
                <a:effectLst/>
                <a:uFillTx/>
                <a:latin typeface="Calibri"/>
              </a:rPr>
              <a:t>Public Health Analytics &amp; Predictive Modeling | External Project Review</a:t>
            </a:r>
            <a:endParaRPr lang="en-IN" sz="900" b="0" u="none" strike="noStrike">
              <a:solidFill>
                <a:srgbClr val="000000"/>
              </a:solidFill>
              <a:effectLst/>
              <a:uFillTx/>
              <a:latin typeface="Arial"/>
            </a:endParaRPr>
          </a:p>
        </p:txBody>
      </p:sp>
      <p:sp>
        <p:nvSpPr>
          <p:cNvPr id="133" name="TextBox 4"/>
          <p:cNvSpPr/>
          <p:nvPr/>
        </p:nvSpPr>
        <p:spPr>
          <a:xfrm>
            <a:off x="10515600" y="6309360"/>
            <a:ext cx="944280" cy="2739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787878"/>
                </a:solidFill>
                <a:effectLst/>
                <a:uFillTx/>
                <a:latin typeface="Calibri"/>
              </a:rPr>
              <a:t>Slide 11 of 19</a:t>
            </a:r>
            <a:endParaRPr lang="en-IN" sz="900" b="0" u="none" strike="noStrike">
              <a:solidFill>
                <a:srgbClr val="000000"/>
              </a:solidFill>
              <a:effectLst/>
              <a:uFillTx/>
              <a:latin typeface="Arial"/>
            </a:endParaRPr>
          </a:p>
        </p:txBody>
      </p:sp>
      <p:sp>
        <p:nvSpPr>
          <p:cNvPr id="134" name="TextBox 5"/>
          <p:cNvSpPr/>
          <p:nvPr/>
        </p:nvSpPr>
        <p:spPr>
          <a:xfrm>
            <a:off x="731520" y="1463040"/>
            <a:ext cx="493740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Objective:</a:t>
            </a:r>
            <a:r>
              <a:rPr lang="en-US" sz="1400" b="0" u="none" strike="noStrike">
                <a:solidFill>
                  <a:srgbClr val="3C3C3C"/>
                </a:solidFill>
                <a:effectLst/>
                <a:uFillTx/>
                <a:latin typeface="Calibri"/>
              </a:rPr>
              <a:t> Verify the real-world safety net created by immunization programs.</a:t>
            </a:r>
            <a:endParaRPr lang="en-IN" sz="14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Scatter Plot Analysis: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Confirms an inverse relationship: higher vaccination levels correspond to lower disease counts.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Threshold Effect:</a:t>
            </a:r>
            <a:r>
              <a:rPr lang="en-US" sz="1300" b="0" u="none" strike="noStrike">
                <a:solidFill>
                  <a:srgbClr val="3C3C3C"/>
                </a:solidFill>
                <a:effectLst/>
                <a:uFillTx/>
                <a:latin typeface="Calibri"/>
              </a:rPr>
              <a:t> Active cases remain consistently low (under 1,500) once the vaccination rate exceeds </a:t>
            </a:r>
            <a:r>
              <a:rPr lang="en-US" sz="1300" b="1" u="none" strike="noStrike">
                <a:solidFill>
                  <a:srgbClr val="142850"/>
                </a:solidFill>
                <a:effectLst/>
                <a:uFillTx/>
                <a:latin typeface="Calibri"/>
              </a:rPr>
              <a:t>75%</a:t>
            </a:r>
            <a:r>
              <a:rPr lang="en-US" sz="1300" b="0" u="none" strike="noStrike">
                <a:solidFill>
                  <a:srgbClr val="3C3C3C"/>
                </a:solidFill>
                <a:effectLst/>
                <a:uFillTx/>
                <a:latin typeface="Calibri"/>
              </a:rPr>
              <a:t>.</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Volatility Zone:</a:t>
            </a:r>
            <a:r>
              <a:rPr lang="en-US" sz="1300" b="0" u="none" strike="noStrike">
                <a:solidFill>
                  <a:srgbClr val="3C3C3C"/>
                </a:solidFill>
                <a:effectLst/>
                <a:uFillTx/>
                <a:latin typeface="Calibri"/>
              </a:rPr>
              <a:t> Regions with low vaccination (under 50%) experience extreme volatility and massive outbreaks.</a:t>
            </a:r>
            <a:endParaRPr lang="en-IN" sz="13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Conclusion:</a:t>
            </a:r>
            <a:r>
              <a:rPr lang="en-US" sz="1400" b="0" u="none" strike="noStrike">
                <a:solidFill>
                  <a:srgbClr val="3C3C3C"/>
                </a:solidFill>
                <a:effectLst/>
                <a:uFillTx/>
                <a:latin typeface="Calibri"/>
              </a:rPr>
              <a:t> Immunization is the single most effective barrier to community outbreaks.</a:t>
            </a:r>
            <a:endParaRPr lang="en-IN" sz="1400" b="0" u="none" strike="noStrike">
              <a:solidFill>
                <a:srgbClr val="000000"/>
              </a:solidFill>
              <a:effectLst/>
              <a:uFillTx/>
              <a:latin typeface="Arial"/>
            </a:endParaRPr>
          </a:p>
        </p:txBody>
      </p:sp>
      <p:pic>
        <p:nvPicPr>
          <p:cNvPr id="135" name="Picture 6" descr="vaccination_vs_disease.png"/>
          <p:cNvPicPr/>
          <p:nvPr/>
        </p:nvPicPr>
        <p:blipFill>
          <a:blip r:embed="rId1"/>
          <a:stretch/>
        </p:blipFill>
        <p:spPr>
          <a:xfrm>
            <a:off x="6035040" y="1463040"/>
            <a:ext cx="5394600" cy="412956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36" name="TextBox 1"/>
          <p:cNvSpPr/>
          <p:nvPr/>
        </p:nvSpPr>
        <p:spPr>
          <a:xfrm>
            <a:off x="731520" y="457200"/>
            <a:ext cx="1072836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142850"/>
                </a:solidFill>
                <a:effectLst/>
                <a:uFillTx/>
                <a:latin typeface="Trebuchet MS"/>
              </a:rPr>
              <a:t>Objective 5: AQI vs Disease Cases</a:t>
            </a:r>
            <a:endParaRPr lang="en-IN" sz="2800" b="0" u="none" strike="noStrike">
              <a:solidFill>
                <a:srgbClr val="000000"/>
              </a:solidFill>
              <a:effectLst/>
              <a:uFillTx/>
              <a:latin typeface="Arial"/>
            </a:endParaRPr>
          </a:p>
        </p:txBody>
      </p:sp>
      <p:sp>
        <p:nvSpPr>
          <p:cNvPr id="137" name="Rectangle 2"/>
          <p:cNvSpPr/>
          <p:nvPr/>
        </p:nvSpPr>
        <p:spPr>
          <a:xfrm>
            <a:off x="731520" y="1188720"/>
            <a:ext cx="10728360" cy="3636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38" name="TextBox 3"/>
          <p:cNvSpPr/>
          <p:nvPr/>
        </p:nvSpPr>
        <p:spPr>
          <a:xfrm>
            <a:off x="731520" y="6309360"/>
            <a:ext cx="822924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787878"/>
                </a:solidFill>
                <a:effectLst/>
                <a:uFillTx/>
                <a:latin typeface="Calibri"/>
              </a:rPr>
              <a:t>Public Health Analytics &amp; Predictive Modeling | External Project Review</a:t>
            </a:r>
            <a:endParaRPr lang="en-IN" sz="900" b="0" u="none" strike="noStrike">
              <a:solidFill>
                <a:srgbClr val="000000"/>
              </a:solidFill>
              <a:effectLst/>
              <a:uFillTx/>
              <a:latin typeface="Arial"/>
            </a:endParaRPr>
          </a:p>
        </p:txBody>
      </p:sp>
      <p:sp>
        <p:nvSpPr>
          <p:cNvPr id="139" name="TextBox 4"/>
          <p:cNvSpPr/>
          <p:nvPr/>
        </p:nvSpPr>
        <p:spPr>
          <a:xfrm>
            <a:off x="10515600" y="6309360"/>
            <a:ext cx="944280" cy="2739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787878"/>
                </a:solidFill>
                <a:effectLst/>
                <a:uFillTx/>
                <a:latin typeface="Calibri"/>
              </a:rPr>
              <a:t>Slide 12 of 19</a:t>
            </a:r>
            <a:endParaRPr lang="en-IN" sz="900" b="0" u="none" strike="noStrike">
              <a:solidFill>
                <a:srgbClr val="000000"/>
              </a:solidFill>
              <a:effectLst/>
              <a:uFillTx/>
              <a:latin typeface="Arial"/>
            </a:endParaRPr>
          </a:p>
        </p:txBody>
      </p:sp>
      <p:sp>
        <p:nvSpPr>
          <p:cNvPr id="140" name="TextBox 5"/>
          <p:cNvSpPr/>
          <p:nvPr/>
        </p:nvSpPr>
        <p:spPr>
          <a:xfrm>
            <a:off x="731520" y="1463040"/>
            <a:ext cx="4937400" cy="3248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Objective:</a:t>
            </a:r>
            <a:r>
              <a:rPr lang="en-US" sz="1400" b="0" u="none" strike="noStrike">
                <a:solidFill>
                  <a:srgbClr val="3C3C3C"/>
                </a:solidFill>
                <a:effectLst/>
                <a:uFillTx/>
                <a:latin typeface="Calibri"/>
              </a:rPr>
              <a:t> Analyze the impact of Air Quality Index(AQI) on public health burden.</a:t>
            </a:r>
            <a:endParaRPr lang="en-IN" sz="14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Observations: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Confirms a positive trend: worse air quality (higher AQI) aligns with higher disease counts.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Critical Zone:</a:t>
            </a:r>
            <a:r>
              <a:rPr lang="en-US" sz="1300" b="0" u="none" strike="noStrike">
                <a:solidFill>
                  <a:srgbClr val="3C3C3C"/>
                </a:solidFill>
                <a:effectLst/>
                <a:uFillTx/>
                <a:latin typeface="Calibri"/>
              </a:rPr>
              <a:t> When AQI exceeds </a:t>
            </a:r>
            <a:r>
              <a:rPr lang="en-US" sz="1300" b="1" u="none" strike="noStrike">
                <a:solidFill>
                  <a:srgbClr val="142850"/>
                </a:solidFill>
                <a:effectLst/>
                <a:uFillTx/>
                <a:latin typeface="Calibri"/>
              </a:rPr>
              <a:t>180</a:t>
            </a:r>
            <a:r>
              <a:rPr lang="en-US" sz="1300" b="0" u="none" strike="noStrike">
                <a:solidFill>
                  <a:srgbClr val="3C3C3C"/>
                </a:solidFill>
                <a:effectLst/>
                <a:uFillTx/>
                <a:latin typeface="Calibri"/>
              </a:rPr>
              <a:t>, cases frequently spike above 3,500.</a:t>
            </a:r>
            <a:endParaRPr lang="en-IN" sz="13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Policy Directives: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Implement emergency emission controls and public health alerts (e.g., advising masks, staying indoors) when regional AQI exceeds 150.</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Environmental control is a critical preventive public health strategy.</a:t>
            </a:r>
            <a:endParaRPr lang="en-IN" sz="1300" b="0" u="none" strike="noStrike">
              <a:solidFill>
                <a:srgbClr val="000000"/>
              </a:solidFill>
              <a:effectLst/>
              <a:uFillTx/>
              <a:latin typeface="Arial"/>
            </a:endParaRPr>
          </a:p>
        </p:txBody>
      </p:sp>
      <p:pic>
        <p:nvPicPr>
          <p:cNvPr id="141" name="Picture 6" descr="aqi_vs_disease.png"/>
          <p:cNvPicPr/>
          <p:nvPr/>
        </p:nvPicPr>
        <p:blipFill>
          <a:blip r:embed="rId1"/>
          <a:stretch/>
        </p:blipFill>
        <p:spPr>
          <a:xfrm>
            <a:off x="6035040" y="1463040"/>
            <a:ext cx="5394600" cy="412956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42" name="TextBox 1"/>
          <p:cNvSpPr/>
          <p:nvPr/>
        </p:nvSpPr>
        <p:spPr>
          <a:xfrm>
            <a:off x="731520" y="457200"/>
            <a:ext cx="1072836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142850"/>
                </a:solidFill>
                <a:effectLst/>
                <a:uFillTx/>
                <a:latin typeface="Trebuchet MS"/>
              </a:rPr>
              <a:t>Objective 6: HVI Ranking by State</a:t>
            </a:r>
            <a:endParaRPr lang="en-IN" sz="2800" b="0" u="none" strike="noStrike">
              <a:solidFill>
                <a:srgbClr val="000000"/>
              </a:solidFill>
              <a:effectLst/>
              <a:uFillTx/>
              <a:latin typeface="Arial"/>
            </a:endParaRPr>
          </a:p>
        </p:txBody>
      </p:sp>
      <p:sp>
        <p:nvSpPr>
          <p:cNvPr id="143" name="Rectangle 2"/>
          <p:cNvSpPr/>
          <p:nvPr/>
        </p:nvSpPr>
        <p:spPr>
          <a:xfrm>
            <a:off x="731520" y="1188720"/>
            <a:ext cx="10728360" cy="3636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44" name="TextBox 3"/>
          <p:cNvSpPr/>
          <p:nvPr/>
        </p:nvSpPr>
        <p:spPr>
          <a:xfrm>
            <a:off x="731520" y="6309360"/>
            <a:ext cx="822924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787878"/>
                </a:solidFill>
                <a:effectLst/>
                <a:uFillTx/>
                <a:latin typeface="Calibri"/>
              </a:rPr>
              <a:t>Public Health Analytics &amp; Predictive Modeling | External Project Review</a:t>
            </a:r>
            <a:endParaRPr lang="en-IN" sz="900" b="0" u="none" strike="noStrike">
              <a:solidFill>
                <a:srgbClr val="000000"/>
              </a:solidFill>
              <a:effectLst/>
              <a:uFillTx/>
              <a:latin typeface="Arial"/>
            </a:endParaRPr>
          </a:p>
        </p:txBody>
      </p:sp>
      <p:sp>
        <p:nvSpPr>
          <p:cNvPr id="145" name="TextBox 4"/>
          <p:cNvSpPr/>
          <p:nvPr/>
        </p:nvSpPr>
        <p:spPr>
          <a:xfrm>
            <a:off x="10515600" y="6309360"/>
            <a:ext cx="944280" cy="2739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787878"/>
                </a:solidFill>
                <a:effectLst/>
                <a:uFillTx/>
                <a:latin typeface="Calibri"/>
              </a:rPr>
              <a:t>Slide 13 of 19</a:t>
            </a:r>
            <a:endParaRPr lang="en-IN" sz="900" b="0" u="none" strike="noStrike">
              <a:solidFill>
                <a:srgbClr val="000000"/>
              </a:solidFill>
              <a:effectLst/>
              <a:uFillTx/>
              <a:latin typeface="Arial"/>
            </a:endParaRPr>
          </a:p>
        </p:txBody>
      </p:sp>
      <p:sp>
        <p:nvSpPr>
          <p:cNvPr id="146" name="TextBox 5"/>
          <p:cNvSpPr/>
          <p:nvPr/>
        </p:nvSpPr>
        <p:spPr>
          <a:xfrm>
            <a:off x="731520" y="1463040"/>
            <a:ext cx="493740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Objective:</a:t>
            </a:r>
            <a:r>
              <a:rPr lang="en-US" sz="1400" b="0" u="none" strike="noStrike">
                <a:solidFill>
                  <a:srgbClr val="3C3C3C"/>
                </a:solidFill>
                <a:effectLst/>
                <a:uFillTx/>
                <a:latin typeface="Calibri"/>
              </a:rPr>
              <a:t> Compare overall regional vulnerability using the composite HVI index.</a:t>
            </a:r>
            <a:endParaRPr lang="en-IN" sz="14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HVI Analysis: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Delhi &amp; West Bengal:</a:t>
            </a:r>
            <a:r>
              <a:rPr lang="en-US" sz="1300" b="0" u="none" strike="noStrike">
                <a:solidFill>
                  <a:srgbClr val="3C3C3C"/>
                </a:solidFill>
                <a:effectLst/>
                <a:uFillTx/>
                <a:latin typeface="Calibri"/>
              </a:rPr>
              <a:t> Ranked as the most vulnerable (HVI values around 0.65-0.70) due to high caseloads, poor AQI, and doctor/bed shortages.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Kerala &amp; Tamil Nadu:</a:t>
            </a:r>
            <a:r>
              <a:rPr lang="en-US" sz="1300" b="0" u="none" strike="noStrike">
                <a:solidFill>
                  <a:srgbClr val="3C3C3C"/>
                </a:solidFill>
                <a:effectLst/>
                <a:uFillTx/>
                <a:latin typeface="Calibri"/>
              </a:rPr>
              <a:t> Ranked as the most resilient (HVI values below 0.35) due to high vaccination and strong hospital resources.</a:t>
            </a:r>
            <a:endParaRPr lang="en-IN" sz="13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Conclusion:</a:t>
            </a:r>
            <a:r>
              <a:rPr lang="en-US" sz="1400" b="0" u="none" strike="noStrike">
                <a:solidFill>
                  <a:srgbClr val="3C3C3C"/>
                </a:solidFill>
                <a:effectLst/>
                <a:uFillTx/>
                <a:latin typeface="Calibri"/>
              </a:rPr>
              <a:t> HVI allows funding agencies to allocate budgets based on actual vulnerability rather than raw population size.</a:t>
            </a:r>
            <a:endParaRPr lang="en-IN" sz="1400" b="0" u="none" strike="noStrike">
              <a:solidFill>
                <a:srgbClr val="000000"/>
              </a:solidFill>
              <a:effectLst/>
              <a:uFillTx/>
              <a:latin typeface="Arial"/>
            </a:endParaRPr>
          </a:p>
        </p:txBody>
      </p:sp>
      <p:pic>
        <p:nvPicPr>
          <p:cNvPr id="147" name="Picture 6" descr="health_vulnerability_index.png"/>
          <p:cNvPicPr/>
          <p:nvPr/>
        </p:nvPicPr>
        <p:blipFill>
          <a:blip r:embed="rId1"/>
          <a:stretch/>
        </p:blipFill>
        <p:spPr>
          <a:xfrm>
            <a:off x="6035040" y="1463040"/>
            <a:ext cx="5394600" cy="340524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48" name="TextBox 1"/>
          <p:cNvSpPr/>
          <p:nvPr/>
        </p:nvSpPr>
        <p:spPr>
          <a:xfrm>
            <a:off x="731520" y="457200"/>
            <a:ext cx="1072836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142850"/>
                </a:solidFill>
                <a:effectLst/>
                <a:uFillTx/>
                <a:latin typeface="Trebuchet MS"/>
              </a:rPr>
              <a:t>Objective 7: Unsupervised Risk Segmentation (K-Means)</a:t>
            </a:r>
            <a:endParaRPr lang="en-IN" sz="2800" b="0" u="none" strike="noStrike">
              <a:solidFill>
                <a:srgbClr val="000000"/>
              </a:solidFill>
              <a:effectLst/>
              <a:uFillTx/>
              <a:latin typeface="Arial"/>
            </a:endParaRPr>
          </a:p>
        </p:txBody>
      </p:sp>
      <p:sp>
        <p:nvSpPr>
          <p:cNvPr id="149" name="Rectangle 2"/>
          <p:cNvSpPr/>
          <p:nvPr/>
        </p:nvSpPr>
        <p:spPr>
          <a:xfrm>
            <a:off x="731520" y="1188720"/>
            <a:ext cx="10728360" cy="3636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50" name="TextBox 3"/>
          <p:cNvSpPr/>
          <p:nvPr/>
        </p:nvSpPr>
        <p:spPr>
          <a:xfrm>
            <a:off x="731520" y="6309360"/>
            <a:ext cx="822924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787878"/>
                </a:solidFill>
                <a:effectLst/>
                <a:uFillTx/>
                <a:latin typeface="Calibri"/>
              </a:rPr>
              <a:t>Public Health Analytics &amp; Predictive Modeling | External Project Review</a:t>
            </a:r>
            <a:endParaRPr lang="en-IN" sz="900" b="0" u="none" strike="noStrike">
              <a:solidFill>
                <a:srgbClr val="000000"/>
              </a:solidFill>
              <a:effectLst/>
              <a:uFillTx/>
              <a:latin typeface="Arial"/>
            </a:endParaRPr>
          </a:p>
        </p:txBody>
      </p:sp>
      <p:sp>
        <p:nvSpPr>
          <p:cNvPr id="151" name="TextBox 4"/>
          <p:cNvSpPr/>
          <p:nvPr/>
        </p:nvSpPr>
        <p:spPr>
          <a:xfrm>
            <a:off x="10515600" y="6309360"/>
            <a:ext cx="944280" cy="2739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787878"/>
                </a:solidFill>
                <a:effectLst/>
                <a:uFillTx/>
                <a:latin typeface="Calibri"/>
              </a:rPr>
              <a:t>Slide 14 of 19</a:t>
            </a:r>
            <a:endParaRPr lang="en-IN" sz="900" b="0" u="none" strike="noStrike">
              <a:solidFill>
                <a:srgbClr val="000000"/>
              </a:solidFill>
              <a:effectLst/>
              <a:uFillTx/>
              <a:latin typeface="Arial"/>
            </a:endParaRPr>
          </a:p>
        </p:txBody>
      </p:sp>
      <p:sp>
        <p:nvSpPr>
          <p:cNvPr id="152" name="TextBox 5"/>
          <p:cNvSpPr/>
          <p:nvPr/>
        </p:nvSpPr>
        <p:spPr>
          <a:xfrm>
            <a:off x="731520" y="1463040"/>
            <a:ext cx="493740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Objective:</a:t>
            </a:r>
            <a:r>
              <a:rPr lang="en-US" sz="1400" b="0" u="none" strike="noStrike">
                <a:solidFill>
                  <a:srgbClr val="3C3C3C"/>
                </a:solidFill>
                <a:effectLst/>
                <a:uFillTx/>
                <a:latin typeface="Calibri"/>
              </a:rPr>
              <a:t> Apply unsupervised learning (K-Means, k=3) to segment state-month records into distinct risk levels.</a:t>
            </a:r>
            <a:endParaRPr lang="en-IN" sz="14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Cluster Profiles: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Cluster 0 (Low Risk - Red):</a:t>
            </a:r>
            <a:r>
              <a:rPr lang="en-US" sz="1300" b="0" u="none" strike="noStrike">
                <a:solidFill>
                  <a:srgbClr val="3C3C3C"/>
                </a:solidFill>
                <a:effectLst/>
                <a:uFillTx/>
                <a:latin typeface="Calibri"/>
              </a:rPr>
              <a:t> High vaccination rates (70-90%), low disease cases. Resilient and stable regions.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Cluster 1 (Moderate Risk - Green):</a:t>
            </a:r>
            <a:r>
              <a:rPr lang="en-US" sz="1300" b="0" u="none" strike="noStrike">
                <a:solidFill>
                  <a:srgbClr val="3C3C3C"/>
                </a:solidFill>
                <a:effectLst/>
                <a:uFillTx/>
                <a:latin typeface="Calibri"/>
              </a:rPr>
              <a:t> Moderate vaccination rates (55-70%) and moderate caseloads.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Cluster 2 (High Risk - Blue):</a:t>
            </a:r>
            <a:r>
              <a:rPr lang="en-US" sz="1300" b="0" u="none" strike="noStrike">
                <a:solidFill>
                  <a:srgbClr val="3C3C3C"/>
                </a:solidFill>
                <a:effectLst/>
                <a:uFillTx/>
                <a:latin typeface="Calibri"/>
              </a:rPr>
              <a:t> Low vaccination rates (35-55%), extremely high disease cases, and elevated mortality. Emergency zones.</a:t>
            </a:r>
            <a:endParaRPr lang="en-IN" sz="13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Application:</a:t>
            </a:r>
            <a:r>
              <a:rPr lang="en-US" sz="1400" b="0" u="none" strike="noStrike">
                <a:solidFill>
                  <a:srgbClr val="3C3C3C"/>
                </a:solidFill>
                <a:effectLst/>
                <a:uFillTx/>
                <a:latin typeface="Calibri"/>
              </a:rPr>
              <a:t> Formulate targeted policies (e.g. prioritize mobile vaccination vans to Cluster 2 regions).</a:t>
            </a:r>
            <a:endParaRPr lang="en-IN" sz="1400" b="0" u="none" strike="noStrike">
              <a:solidFill>
                <a:srgbClr val="000000"/>
              </a:solidFill>
              <a:effectLst/>
              <a:uFillTx/>
              <a:latin typeface="Arial"/>
            </a:endParaRPr>
          </a:p>
        </p:txBody>
      </p:sp>
      <p:pic>
        <p:nvPicPr>
          <p:cNvPr id="153" name="Picture 6" descr="health_risk_clusters.png"/>
          <p:cNvPicPr/>
          <p:nvPr/>
        </p:nvPicPr>
        <p:blipFill>
          <a:blip r:embed="rId1"/>
          <a:stretch/>
        </p:blipFill>
        <p:spPr>
          <a:xfrm>
            <a:off x="6035040" y="1463040"/>
            <a:ext cx="5394600" cy="412956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54" name="TextBox 1"/>
          <p:cNvSpPr/>
          <p:nvPr/>
        </p:nvSpPr>
        <p:spPr>
          <a:xfrm>
            <a:off x="731520" y="457200"/>
            <a:ext cx="1072836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142850"/>
                </a:solidFill>
                <a:effectLst/>
                <a:uFillTx/>
                <a:latin typeface="Trebuchet MS"/>
              </a:rPr>
              <a:t>Objective 8: Supervised Regression Modeling</a:t>
            </a:r>
            <a:endParaRPr lang="en-IN" sz="2800" b="0" u="none" strike="noStrike">
              <a:solidFill>
                <a:srgbClr val="000000"/>
              </a:solidFill>
              <a:effectLst/>
              <a:uFillTx/>
              <a:latin typeface="Arial"/>
            </a:endParaRPr>
          </a:p>
        </p:txBody>
      </p:sp>
      <p:sp>
        <p:nvSpPr>
          <p:cNvPr id="155" name="Rectangle 2"/>
          <p:cNvSpPr/>
          <p:nvPr/>
        </p:nvSpPr>
        <p:spPr>
          <a:xfrm>
            <a:off x="731520" y="1188720"/>
            <a:ext cx="10728360" cy="3636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56" name="TextBox 3"/>
          <p:cNvSpPr/>
          <p:nvPr/>
        </p:nvSpPr>
        <p:spPr>
          <a:xfrm>
            <a:off x="731520" y="6309360"/>
            <a:ext cx="822924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787878"/>
                </a:solidFill>
                <a:effectLst/>
                <a:uFillTx/>
                <a:latin typeface="Calibri"/>
              </a:rPr>
              <a:t>Public Health Analytics &amp; Predictive Modeling | External Project Review</a:t>
            </a:r>
            <a:endParaRPr lang="en-IN" sz="900" b="0" u="none" strike="noStrike">
              <a:solidFill>
                <a:srgbClr val="000000"/>
              </a:solidFill>
              <a:effectLst/>
              <a:uFillTx/>
              <a:latin typeface="Arial"/>
            </a:endParaRPr>
          </a:p>
        </p:txBody>
      </p:sp>
      <p:sp>
        <p:nvSpPr>
          <p:cNvPr id="157" name="TextBox 4"/>
          <p:cNvSpPr/>
          <p:nvPr/>
        </p:nvSpPr>
        <p:spPr>
          <a:xfrm>
            <a:off x="10515600" y="6309360"/>
            <a:ext cx="944280" cy="2739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787878"/>
                </a:solidFill>
                <a:effectLst/>
                <a:uFillTx/>
                <a:latin typeface="Calibri"/>
              </a:rPr>
              <a:t>Slide 15 of 19</a:t>
            </a:r>
            <a:endParaRPr lang="en-IN" sz="900" b="0" u="none" strike="noStrike">
              <a:solidFill>
                <a:srgbClr val="000000"/>
              </a:solidFill>
              <a:effectLst/>
              <a:uFillTx/>
              <a:latin typeface="Arial"/>
            </a:endParaRPr>
          </a:p>
        </p:txBody>
      </p:sp>
      <p:sp>
        <p:nvSpPr>
          <p:cNvPr id="158" name="TextBox 5"/>
          <p:cNvSpPr/>
          <p:nvPr/>
        </p:nvSpPr>
        <p:spPr>
          <a:xfrm>
            <a:off x="731520" y="1463040"/>
            <a:ext cx="512028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Model Configuration:</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Algorithm:</a:t>
            </a:r>
            <a:r>
              <a:rPr lang="en-US" sz="1300" b="0" u="none" strike="noStrike">
                <a:solidFill>
                  <a:srgbClr val="3C3C3C"/>
                </a:solidFill>
                <a:effectLst/>
                <a:uFillTx/>
                <a:latin typeface="Calibri"/>
              </a:rPr>
              <a:t> RandomForest Regressor (200 decision trees).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Goal:</a:t>
            </a:r>
            <a:r>
              <a:rPr lang="en-US" sz="1300" b="0" u="none" strike="noStrike">
                <a:solidFill>
                  <a:srgbClr val="3C3C3C"/>
                </a:solidFill>
                <a:effectLst/>
                <a:uFillTx/>
                <a:latin typeface="Calibri"/>
              </a:rPr>
              <a:t> Predict monthly disease cases based on demographic, resource, and environmental inputs.</a:t>
            </a:r>
            <a:endParaRPr lang="en-IN" sz="13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Features Used (X):</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`Population`, `Vaccination_Rate`, `Hospital_Beds`, `Doctors`, `Mortality_Rate`, `Air_Quality_Index`.</a:t>
            </a:r>
            <a:endParaRPr lang="en-IN" sz="13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Target Label (y):</a:t>
            </a:r>
            <a:r>
              <a:rPr lang="en-US" sz="1400" b="0" u="none" strike="noStrike">
                <a:solidFill>
                  <a:srgbClr val="3C3C3C"/>
                </a:solidFill>
                <a:effectLst/>
                <a:uFillTx/>
                <a:latin typeface="Calibri"/>
              </a:rPr>
              <a:t> `Disease_Cases`.</a:t>
            </a:r>
            <a:endParaRPr lang="en-IN" sz="14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Data Partitioning:</a:t>
            </a:r>
            <a:r>
              <a:rPr lang="en-US" sz="1400" b="0" u="none" strike="noStrike">
                <a:solidFill>
                  <a:srgbClr val="3C3C3C"/>
                </a:solidFill>
                <a:effectLst/>
                <a:uFillTx/>
                <a:latin typeface="Calibri"/>
              </a:rPr>
              <a:t> 80% Training, 20% Testing split.</a:t>
            </a:r>
            <a:endParaRPr lang="en-IN" sz="1400" b="0" u="none" strike="noStrike">
              <a:solidFill>
                <a:srgbClr val="000000"/>
              </a:solidFill>
              <a:effectLst/>
              <a:uFillTx/>
              <a:latin typeface="Arial"/>
            </a:endParaRPr>
          </a:p>
        </p:txBody>
      </p:sp>
      <p:sp>
        <p:nvSpPr>
          <p:cNvPr id="159" name="TextBox 6"/>
          <p:cNvSpPr/>
          <p:nvPr/>
        </p:nvSpPr>
        <p:spPr>
          <a:xfrm>
            <a:off x="6217920" y="1463040"/>
            <a:ext cx="521172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Model Validation Metrics: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Mean Absolute Error (MAE):</a:t>
            </a:r>
            <a:r>
              <a:rPr lang="en-US" sz="1300" b="0" u="none" strike="noStrike">
                <a:solidFill>
                  <a:srgbClr val="3C3C3C"/>
                </a:solidFill>
                <a:effectLst/>
                <a:uFillTx/>
                <a:latin typeface="Calibri"/>
              </a:rPr>
              <a:t> 120.30 cases</a:t>
            </a:r>
            <a:endParaRPr lang="en-IN" sz="1300" b="0" u="none" strike="noStrike">
              <a:solidFill>
                <a:srgbClr val="000000"/>
              </a:solidFill>
              <a:effectLst/>
              <a:uFillTx/>
              <a:latin typeface="Arial"/>
            </a:endParaRPr>
          </a:p>
          <a:p>
            <a:pPr marL="914400" defTabSz="457200">
              <a:lnSpc>
                <a:spcPct val="100000"/>
              </a:lnSpc>
              <a:spcAft>
                <a:spcPts val="799"/>
              </a:spcAft>
            </a:pPr>
            <a:r>
              <a:rPr lang="en-US" sz="1200" b="0" u="none" strike="noStrike">
                <a:solidFill>
                  <a:srgbClr val="3C3C3C"/>
                </a:solidFill>
                <a:effectLst/>
                <a:uFillTx/>
                <a:latin typeface="Calibri"/>
              </a:rPr>
              <a:t>*(The model's predictions deviate by only ~120 cases on average, which represents a low ~5% error rate relative to the mean caseload of 2,424)*</a:t>
            </a:r>
            <a:endParaRPr lang="en-IN" sz="12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R-squared (R2) Score:</a:t>
            </a:r>
            <a:r>
              <a:rPr lang="en-US" sz="1300" b="0" u="none" strike="noStrike">
                <a:solidFill>
                  <a:srgbClr val="3C3C3C"/>
                </a:solidFill>
                <a:effectLst/>
                <a:uFillTx/>
                <a:latin typeface="Calibri"/>
              </a:rPr>
              <a:t> 0.957</a:t>
            </a:r>
            <a:endParaRPr lang="en-IN" sz="1300" b="0" u="none" strike="noStrike">
              <a:solidFill>
                <a:srgbClr val="000000"/>
              </a:solidFill>
              <a:effectLst/>
              <a:uFillTx/>
              <a:latin typeface="Arial"/>
            </a:endParaRPr>
          </a:p>
          <a:p>
            <a:pPr marL="914400" defTabSz="457200">
              <a:lnSpc>
                <a:spcPct val="100000"/>
              </a:lnSpc>
              <a:spcAft>
                <a:spcPts val="799"/>
              </a:spcAft>
            </a:pPr>
            <a:r>
              <a:rPr lang="en-US" sz="1200" b="0" u="none" strike="noStrike">
                <a:solidFill>
                  <a:srgbClr val="3C3C3C"/>
                </a:solidFill>
                <a:effectLst/>
                <a:uFillTx/>
                <a:latin typeface="Calibri"/>
              </a:rPr>
              <a:t>*(Explains 95.7% of the variance in unseen test data, proving high forecasting accuracy)*</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60" name="TextBox 1"/>
          <p:cNvSpPr/>
          <p:nvPr/>
        </p:nvSpPr>
        <p:spPr>
          <a:xfrm>
            <a:off x="731520" y="457200"/>
            <a:ext cx="1072836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142850"/>
                </a:solidFill>
                <a:effectLst/>
                <a:uFillTx/>
                <a:latin typeface="Trebuchet MS"/>
              </a:rPr>
              <a:t>Model Validation: Actual vs Predicted Cases</a:t>
            </a:r>
            <a:endParaRPr lang="en-IN" sz="2800" b="0" u="none" strike="noStrike">
              <a:solidFill>
                <a:srgbClr val="000000"/>
              </a:solidFill>
              <a:effectLst/>
              <a:uFillTx/>
              <a:latin typeface="Arial"/>
            </a:endParaRPr>
          </a:p>
        </p:txBody>
      </p:sp>
      <p:sp>
        <p:nvSpPr>
          <p:cNvPr id="161" name="Rectangle 2"/>
          <p:cNvSpPr/>
          <p:nvPr/>
        </p:nvSpPr>
        <p:spPr>
          <a:xfrm>
            <a:off x="731520" y="1188720"/>
            <a:ext cx="10728360" cy="3636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62" name="TextBox 3"/>
          <p:cNvSpPr/>
          <p:nvPr/>
        </p:nvSpPr>
        <p:spPr>
          <a:xfrm>
            <a:off x="731520" y="6309360"/>
            <a:ext cx="822924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787878"/>
                </a:solidFill>
                <a:effectLst/>
                <a:uFillTx/>
                <a:latin typeface="Calibri"/>
              </a:rPr>
              <a:t>Public Health Analytics &amp; Predictive Modeling | External Project Review</a:t>
            </a:r>
            <a:endParaRPr lang="en-IN" sz="900" b="0" u="none" strike="noStrike">
              <a:solidFill>
                <a:srgbClr val="000000"/>
              </a:solidFill>
              <a:effectLst/>
              <a:uFillTx/>
              <a:latin typeface="Arial"/>
            </a:endParaRPr>
          </a:p>
        </p:txBody>
      </p:sp>
      <p:sp>
        <p:nvSpPr>
          <p:cNvPr id="163" name="TextBox 4"/>
          <p:cNvSpPr/>
          <p:nvPr/>
        </p:nvSpPr>
        <p:spPr>
          <a:xfrm>
            <a:off x="10515600" y="6309360"/>
            <a:ext cx="944280" cy="2739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787878"/>
                </a:solidFill>
                <a:effectLst/>
                <a:uFillTx/>
                <a:latin typeface="Calibri"/>
              </a:rPr>
              <a:t>Slide 16 of 19</a:t>
            </a:r>
            <a:endParaRPr lang="en-IN" sz="900" b="0" u="none" strike="noStrike">
              <a:solidFill>
                <a:srgbClr val="000000"/>
              </a:solidFill>
              <a:effectLst/>
              <a:uFillTx/>
              <a:latin typeface="Arial"/>
            </a:endParaRPr>
          </a:p>
        </p:txBody>
      </p:sp>
      <p:sp>
        <p:nvSpPr>
          <p:cNvPr id="164" name="TextBox 5"/>
          <p:cNvSpPr/>
          <p:nvPr/>
        </p:nvSpPr>
        <p:spPr>
          <a:xfrm>
            <a:off x="731520" y="1463040"/>
            <a:ext cx="493740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Objective:</a:t>
            </a:r>
            <a:r>
              <a:rPr lang="en-US" sz="1400" b="0" u="none" strike="noStrike">
                <a:solidFill>
                  <a:srgbClr val="3C3C3C"/>
                </a:solidFill>
                <a:effectLst/>
                <a:uFillTx/>
                <a:latin typeface="Calibri"/>
              </a:rPr>
              <a:t> Evaluate prediction performance visually on the test dataset.</a:t>
            </a:r>
            <a:endParaRPr lang="en-IN" sz="14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Analysis: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Points align tightly along the 45-degree diagonal line, demonstrating that predictions match actual values.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Consistent accuracy across low, medium, and high caseload values.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The model does not suffer from severe underfitting or overfitting.</a:t>
            </a:r>
            <a:endParaRPr lang="en-IN" sz="13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Conclusion:</a:t>
            </a:r>
            <a:r>
              <a:rPr lang="en-US" sz="1400" b="0" u="none" strike="noStrike">
                <a:solidFill>
                  <a:srgbClr val="3C3C3C"/>
                </a:solidFill>
                <a:effectLst/>
                <a:uFillTx/>
                <a:latin typeface="Calibri"/>
              </a:rPr>
              <a:t> Safe to deploy for local health agency forecasting.</a:t>
            </a:r>
            <a:endParaRPr lang="en-IN" sz="1400" b="0" u="none" strike="noStrike">
              <a:solidFill>
                <a:srgbClr val="000000"/>
              </a:solidFill>
              <a:effectLst/>
              <a:uFillTx/>
              <a:latin typeface="Arial"/>
            </a:endParaRPr>
          </a:p>
        </p:txBody>
      </p:sp>
      <p:pic>
        <p:nvPicPr>
          <p:cNvPr id="165" name="Picture 6" descr="actual_vs_predicted.png"/>
          <p:cNvPicPr/>
          <p:nvPr/>
        </p:nvPicPr>
        <p:blipFill>
          <a:blip r:embed="rId1"/>
          <a:stretch/>
        </p:blipFill>
        <p:spPr>
          <a:xfrm>
            <a:off x="6035040" y="1463040"/>
            <a:ext cx="5394600" cy="342756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66" name="TextBox 1"/>
          <p:cNvSpPr/>
          <p:nvPr/>
        </p:nvSpPr>
        <p:spPr>
          <a:xfrm>
            <a:off x="731520" y="457200"/>
            <a:ext cx="1072836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142850"/>
                </a:solidFill>
                <a:effectLst/>
                <a:uFillTx/>
                <a:latin typeface="Trebuchet MS"/>
              </a:rPr>
              <a:t>Objective 9: Feature Importance</a:t>
            </a:r>
            <a:endParaRPr lang="en-IN" sz="2800" b="0" u="none" strike="noStrike">
              <a:solidFill>
                <a:srgbClr val="000000"/>
              </a:solidFill>
              <a:effectLst/>
              <a:uFillTx/>
              <a:latin typeface="Arial"/>
            </a:endParaRPr>
          </a:p>
        </p:txBody>
      </p:sp>
      <p:sp>
        <p:nvSpPr>
          <p:cNvPr id="167" name="Rectangle 2"/>
          <p:cNvSpPr/>
          <p:nvPr/>
        </p:nvSpPr>
        <p:spPr>
          <a:xfrm>
            <a:off x="731520" y="1188720"/>
            <a:ext cx="10728360" cy="3636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68" name="TextBox 3"/>
          <p:cNvSpPr/>
          <p:nvPr/>
        </p:nvSpPr>
        <p:spPr>
          <a:xfrm>
            <a:off x="731520" y="6309360"/>
            <a:ext cx="822924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787878"/>
                </a:solidFill>
                <a:effectLst/>
                <a:uFillTx/>
                <a:latin typeface="Calibri"/>
              </a:rPr>
              <a:t>Public Health Analytics &amp; Predictive Modeling | External Project Review</a:t>
            </a:r>
            <a:endParaRPr lang="en-IN" sz="900" b="0" u="none" strike="noStrike">
              <a:solidFill>
                <a:srgbClr val="000000"/>
              </a:solidFill>
              <a:effectLst/>
              <a:uFillTx/>
              <a:latin typeface="Arial"/>
            </a:endParaRPr>
          </a:p>
        </p:txBody>
      </p:sp>
      <p:sp>
        <p:nvSpPr>
          <p:cNvPr id="169" name="TextBox 4"/>
          <p:cNvSpPr/>
          <p:nvPr/>
        </p:nvSpPr>
        <p:spPr>
          <a:xfrm>
            <a:off x="10515600" y="6309360"/>
            <a:ext cx="944280" cy="2739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787878"/>
                </a:solidFill>
                <a:effectLst/>
                <a:uFillTx/>
                <a:latin typeface="Calibri"/>
              </a:rPr>
              <a:t>Slide 17 of 19</a:t>
            </a:r>
            <a:endParaRPr lang="en-IN" sz="900" b="0" u="none" strike="noStrike">
              <a:solidFill>
                <a:srgbClr val="000000"/>
              </a:solidFill>
              <a:effectLst/>
              <a:uFillTx/>
              <a:latin typeface="Arial"/>
            </a:endParaRPr>
          </a:p>
        </p:txBody>
      </p:sp>
      <p:sp>
        <p:nvSpPr>
          <p:cNvPr id="170" name="TextBox 5"/>
          <p:cNvSpPr/>
          <p:nvPr/>
        </p:nvSpPr>
        <p:spPr>
          <a:xfrm>
            <a:off x="731520" y="1463040"/>
            <a:ext cx="493740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Objective:</a:t>
            </a:r>
            <a:r>
              <a:rPr lang="en-US" sz="1400" b="0" u="none" strike="noStrike">
                <a:solidFill>
                  <a:srgbClr val="3C3C3C"/>
                </a:solidFill>
                <a:effectLst/>
                <a:uFillTx/>
                <a:latin typeface="Calibri"/>
              </a:rPr>
              <a:t> Identify the primary factors that dictate outbreak sizes in the machine learning model.</a:t>
            </a:r>
            <a:endParaRPr lang="en-IN" sz="14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Findings: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Top Predictor:</a:t>
            </a:r>
            <a:r>
              <a:rPr lang="en-US" sz="1300" b="0" u="none" strike="noStrike">
                <a:solidFill>
                  <a:srgbClr val="3C3C3C"/>
                </a:solidFill>
                <a:effectLst/>
                <a:uFillTx/>
                <a:latin typeface="Calibri"/>
              </a:rPr>
              <a:t> `Air_Quality_Index` and `Vaccination_Rate` are the most influential variables.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Secondary Factors:</a:t>
            </a:r>
            <a:r>
              <a:rPr lang="en-US" sz="1300" b="0" u="none" strike="noStrike">
                <a:solidFill>
                  <a:srgbClr val="3C3C3C"/>
                </a:solidFill>
                <a:effectLst/>
                <a:uFillTx/>
                <a:latin typeface="Calibri"/>
              </a:rPr>
              <a:t> `Mortality_Rate` and demographic scale (`Population`).</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Lower Impact:</a:t>
            </a:r>
            <a:r>
              <a:rPr lang="en-US" sz="1300" b="0" u="none" strike="noStrike">
                <a:solidFill>
                  <a:srgbClr val="3C3C3C"/>
                </a:solidFill>
                <a:effectLst/>
                <a:uFillTx/>
                <a:latin typeface="Calibri"/>
              </a:rPr>
              <a:t> Infrastructure metrics (`Doctors`, `Hospital_Beds`).</a:t>
            </a:r>
            <a:endParaRPr lang="en-IN" sz="13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Takeaway:</a:t>
            </a:r>
            <a:r>
              <a:rPr lang="en-US" sz="1400" b="0" u="none" strike="noStrike">
                <a:solidFill>
                  <a:srgbClr val="3C3C3C"/>
                </a:solidFill>
                <a:effectLst/>
                <a:uFillTx/>
                <a:latin typeface="Calibri"/>
              </a:rPr>
              <a:t> Policies focusing on environmental improvement and vaccinations offer much higher public health leverage than infrastructure expansion alone.</a:t>
            </a:r>
            <a:endParaRPr lang="en-IN" sz="1400" b="0" u="none" strike="noStrike">
              <a:solidFill>
                <a:srgbClr val="000000"/>
              </a:solidFill>
              <a:effectLst/>
              <a:uFillTx/>
              <a:latin typeface="Arial"/>
            </a:endParaRPr>
          </a:p>
        </p:txBody>
      </p:sp>
      <p:pic>
        <p:nvPicPr>
          <p:cNvPr id="171" name="Picture 6" descr="feature_importance.png"/>
          <p:cNvPicPr/>
          <p:nvPr/>
        </p:nvPicPr>
        <p:blipFill>
          <a:blip r:embed="rId1"/>
          <a:stretch/>
        </p:blipFill>
        <p:spPr>
          <a:xfrm>
            <a:off x="6035040" y="1463040"/>
            <a:ext cx="5394600" cy="307008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72" name="TextBox 1"/>
          <p:cNvSpPr/>
          <p:nvPr/>
        </p:nvSpPr>
        <p:spPr>
          <a:xfrm>
            <a:off x="731520" y="457200"/>
            <a:ext cx="1072836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142850"/>
                </a:solidFill>
                <a:effectLst/>
                <a:uFillTx/>
                <a:latin typeface="Trebuchet MS"/>
              </a:rPr>
              <a:t>Key Project Insights Summary</a:t>
            </a:r>
            <a:endParaRPr lang="en-IN" sz="2800" b="0" u="none" strike="noStrike">
              <a:solidFill>
                <a:srgbClr val="000000"/>
              </a:solidFill>
              <a:effectLst/>
              <a:uFillTx/>
              <a:latin typeface="Arial"/>
            </a:endParaRPr>
          </a:p>
        </p:txBody>
      </p:sp>
      <p:sp>
        <p:nvSpPr>
          <p:cNvPr id="173" name="Rectangle 2"/>
          <p:cNvSpPr/>
          <p:nvPr/>
        </p:nvSpPr>
        <p:spPr>
          <a:xfrm>
            <a:off x="731520" y="1188720"/>
            <a:ext cx="10728360" cy="3636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74" name="TextBox 3"/>
          <p:cNvSpPr/>
          <p:nvPr/>
        </p:nvSpPr>
        <p:spPr>
          <a:xfrm>
            <a:off x="731520" y="6309360"/>
            <a:ext cx="822924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787878"/>
                </a:solidFill>
                <a:effectLst/>
                <a:uFillTx/>
                <a:latin typeface="Calibri"/>
              </a:rPr>
              <a:t>Public Health Analytics &amp; Predictive Modeling | External Project Review</a:t>
            </a:r>
            <a:endParaRPr lang="en-IN" sz="900" b="0" u="none" strike="noStrike">
              <a:solidFill>
                <a:srgbClr val="000000"/>
              </a:solidFill>
              <a:effectLst/>
              <a:uFillTx/>
              <a:latin typeface="Arial"/>
            </a:endParaRPr>
          </a:p>
        </p:txBody>
      </p:sp>
      <p:sp>
        <p:nvSpPr>
          <p:cNvPr id="175" name="TextBox 4"/>
          <p:cNvSpPr/>
          <p:nvPr/>
        </p:nvSpPr>
        <p:spPr>
          <a:xfrm>
            <a:off x="10515600" y="6309360"/>
            <a:ext cx="944280" cy="2739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787878"/>
                </a:solidFill>
                <a:effectLst/>
                <a:uFillTx/>
                <a:latin typeface="Calibri"/>
              </a:rPr>
              <a:t>Slide 18 of 19</a:t>
            </a:r>
            <a:endParaRPr lang="en-IN" sz="900" b="0" u="none" strike="noStrike">
              <a:solidFill>
                <a:srgbClr val="000000"/>
              </a:solidFill>
              <a:effectLst/>
              <a:uFillTx/>
              <a:latin typeface="Arial"/>
            </a:endParaRPr>
          </a:p>
        </p:txBody>
      </p:sp>
      <p:sp>
        <p:nvSpPr>
          <p:cNvPr id="176" name="TextBox 5"/>
          <p:cNvSpPr/>
          <p:nvPr/>
        </p:nvSpPr>
        <p:spPr>
          <a:xfrm>
            <a:off x="731520" y="1463040"/>
            <a:ext cx="512028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Key Public Health Drivers: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Air Quality and Vaccination coverage are the two most critical drivers of community disease burden.</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Keeping AQI below 150 and Vaccination above 75% dramatically limits outbreaks.</a:t>
            </a:r>
            <a:endParaRPr lang="en-IN" sz="1300" b="0" u="none" strike="noStrike">
              <a:solidFill>
                <a:srgbClr val="000000"/>
              </a:solidFill>
              <a:effectLst/>
              <a:uFillTx/>
              <a:latin typeface="Arial"/>
            </a:endParaRPr>
          </a:p>
          <a:p>
            <a:pPr defTabSz="457200">
              <a:lnSpc>
                <a:spcPct val="100000"/>
              </a:lnSpc>
              <a:spcAft>
                <a:spcPts val="799"/>
              </a:spcAft>
            </a:pPr>
            <a:r>
              <a:rPr lang="en-US" sz="1400" b="1" u="none" strike="noStrike">
                <a:solidFill>
                  <a:srgbClr val="142850"/>
                </a:solidFill>
                <a:effectLst/>
                <a:uFillTx/>
                <a:latin typeface="Calibri"/>
              </a:rPr>
              <a:t>Geographic Prioritization:</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Delhi and West Bengal require urgent focus (HVI values close to 0.7-0.8).</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Kerala and Tamil Nadu are benchmarks for resilient health management (HVI under 0.3).</a:t>
            </a:r>
            <a:endParaRPr lang="en-IN" sz="1300" b="0" u="none" strike="noStrike">
              <a:solidFill>
                <a:srgbClr val="000000"/>
              </a:solidFill>
              <a:effectLst/>
              <a:uFillTx/>
              <a:latin typeface="Arial"/>
            </a:endParaRPr>
          </a:p>
        </p:txBody>
      </p:sp>
      <p:sp>
        <p:nvSpPr>
          <p:cNvPr id="177" name="TextBox 6"/>
          <p:cNvSpPr/>
          <p:nvPr/>
        </p:nvSpPr>
        <p:spPr>
          <a:xfrm>
            <a:off x="6217920" y="1463040"/>
            <a:ext cx="521172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System Contributions: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Data Integration:</a:t>
            </a:r>
            <a:r>
              <a:rPr lang="en-US" sz="1300" b="0" u="none" strike="noStrike">
                <a:solidFill>
                  <a:srgbClr val="3C3C3C"/>
                </a:solidFill>
                <a:effectLst/>
                <a:uFillTx/>
                <a:latin typeface="Calibri"/>
              </a:rPr>
              <a:t> Combines spatial, environmental, and healthcare variables.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Composite Metric (HVI):</a:t>
            </a:r>
            <a:r>
              <a:rPr lang="en-US" sz="1300" b="0" u="none" strike="noStrike">
                <a:solidFill>
                  <a:srgbClr val="3C3C3C"/>
                </a:solidFill>
                <a:effectLst/>
                <a:uFillTx/>
                <a:latin typeface="Calibri"/>
              </a:rPr>
              <a:t> Creates an objective framework for policy triage.</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Risk Segmentation:</a:t>
            </a:r>
            <a:r>
              <a:rPr lang="en-US" sz="1300" b="0" u="none" strike="noStrike">
                <a:solidFill>
                  <a:srgbClr val="3C3C3C"/>
                </a:solidFill>
                <a:effectLst/>
                <a:uFillTx/>
                <a:latin typeface="Calibri"/>
              </a:rPr>
              <a:t> Grouping regions into clusters makes resource targeting efficient.</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Forecasting Tool:</a:t>
            </a:r>
            <a:r>
              <a:rPr lang="en-US" sz="1300" b="0" u="none" strike="noStrike">
                <a:solidFill>
                  <a:srgbClr val="3C3C3C"/>
                </a:solidFill>
                <a:effectLst/>
                <a:uFillTx/>
                <a:latin typeface="Calibri"/>
              </a:rPr>
              <a:t> Predicts upcoming cases with 95.7% accuracy.</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78" name="TextBox 1"/>
          <p:cNvSpPr/>
          <p:nvPr/>
        </p:nvSpPr>
        <p:spPr>
          <a:xfrm>
            <a:off x="731520" y="457200"/>
            <a:ext cx="10728360" cy="731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800" b="1" u="none" strike="noStrike">
                <a:solidFill>
                  <a:srgbClr val="142850"/>
                </a:solidFill>
                <a:effectLst/>
                <a:uFillTx/>
                <a:latin typeface="Trebuchet MS"/>
              </a:rPr>
              <a:t>Conclusions &amp; Future Scope</a:t>
            </a:r>
            <a:endParaRPr lang="en-IN" sz="2800" b="0" u="none" strike="noStrike">
              <a:solidFill>
                <a:srgbClr val="000000"/>
              </a:solidFill>
              <a:effectLst/>
              <a:uFillTx/>
              <a:latin typeface="Arial"/>
            </a:endParaRPr>
          </a:p>
        </p:txBody>
      </p:sp>
      <p:sp>
        <p:nvSpPr>
          <p:cNvPr id="179" name="Rectangle 2"/>
          <p:cNvSpPr/>
          <p:nvPr/>
        </p:nvSpPr>
        <p:spPr>
          <a:xfrm>
            <a:off x="731520" y="1188720"/>
            <a:ext cx="10728360" cy="36360"/>
          </a:xfrm>
          <a:prstGeom prst="rect">
            <a:avLst/>
          </a:prstGeom>
          <a:solidFill>
            <a:srgbClr val="009688"/>
          </a:solidFill>
          <a:ln>
            <a:solidFill>
              <a:srgbClr val="00968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80" name="TextBox 3"/>
          <p:cNvSpPr/>
          <p:nvPr/>
        </p:nvSpPr>
        <p:spPr>
          <a:xfrm>
            <a:off x="731520" y="6309360"/>
            <a:ext cx="8229240" cy="273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0" u="none" strike="noStrike">
                <a:solidFill>
                  <a:srgbClr val="787878"/>
                </a:solidFill>
                <a:effectLst/>
                <a:uFillTx/>
                <a:latin typeface="Calibri"/>
              </a:rPr>
              <a:t>Public Health Analytics &amp; Predictive Modeling | External Project Review</a:t>
            </a:r>
            <a:endParaRPr lang="en-IN" sz="900" b="0" u="none" strike="noStrike">
              <a:solidFill>
                <a:srgbClr val="000000"/>
              </a:solidFill>
              <a:effectLst/>
              <a:uFillTx/>
              <a:latin typeface="Arial"/>
            </a:endParaRPr>
          </a:p>
        </p:txBody>
      </p:sp>
      <p:sp>
        <p:nvSpPr>
          <p:cNvPr id="181" name="TextBox 4"/>
          <p:cNvSpPr/>
          <p:nvPr/>
        </p:nvSpPr>
        <p:spPr>
          <a:xfrm>
            <a:off x="10515600" y="6309360"/>
            <a:ext cx="944280" cy="27396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900" b="0" u="none" strike="noStrike">
                <a:solidFill>
                  <a:srgbClr val="787878"/>
                </a:solidFill>
                <a:effectLst/>
                <a:uFillTx/>
                <a:latin typeface="Calibri"/>
              </a:rPr>
              <a:t>Slide 19 of 19</a:t>
            </a:r>
            <a:endParaRPr lang="en-IN" sz="900" b="0" u="none" strike="noStrike">
              <a:solidFill>
                <a:srgbClr val="000000"/>
              </a:solidFill>
              <a:effectLst/>
              <a:uFillTx/>
              <a:latin typeface="Arial"/>
            </a:endParaRPr>
          </a:p>
        </p:txBody>
      </p:sp>
      <p:sp>
        <p:nvSpPr>
          <p:cNvPr id="182" name="TextBox 5"/>
          <p:cNvSpPr/>
          <p:nvPr/>
        </p:nvSpPr>
        <p:spPr>
          <a:xfrm>
            <a:off x="731520" y="1463040"/>
            <a:ext cx="512028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Conclusions:</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The study successfully creates a data-driven pipeline for healthcare surveillance.</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Proven that preventive care (vaccines) and environmental policies (air quality) are the key pillars of public health.</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The Random Forest model provides highly accurate outbreak warnings.</a:t>
            </a:r>
            <a:endParaRPr lang="en-IN" sz="1300" b="0" u="none" strike="noStrike">
              <a:solidFill>
                <a:srgbClr val="000000"/>
              </a:solidFill>
              <a:effectLst/>
              <a:uFillTx/>
              <a:latin typeface="Arial"/>
            </a:endParaRPr>
          </a:p>
        </p:txBody>
      </p:sp>
      <p:sp>
        <p:nvSpPr>
          <p:cNvPr id="183" name="TextBox 6"/>
          <p:cNvSpPr/>
          <p:nvPr/>
        </p:nvSpPr>
        <p:spPr>
          <a:xfrm>
            <a:off x="6217920" y="1463040"/>
            <a:ext cx="5211720" cy="45716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400" b="1" u="none" strike="noStrike">
                <a:solidFill>
                  <a:srgbClr val="142850"/>
                </a:solidFill>
                <a:effectLst/>
                <a:uFillTx/>
                <a:latin typeface="Calibri"/>
              </a:rPr>
              <a:t>Future Enhancements (as per DFD &amp; TOC):</a:t>
            </a:r>
            <a:endParaRPr lang="en-IN" sz="14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Real-Time Data Sync:</a:t>
            </a:r>
            <a:r>
              <a:rPr lang="en-US" sz="1300" b="0" u="none" strike="noStrike">
                <a:solidFill>
                  <a:srgbClr val="3C3C3C"/>
                </a:solidFill>
                <a:effectLst/>
                <a:uFillTx/>
                <a:latin typeface="Calibri"/>
              </a:rPr>
              <a:t> Integrate live AQI sensor streams and hospital registry feeds via APIs.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Offline Storage &amp; Sync:</a:t>
            </a:r>
            <a:r>
              <a:rPr lang="en-US" sz="1300" b="0" u="none" strike="noStrike">
                <a:solidFill>
                  <a:srgbClr val="3C3C3C"/>
                </a:solidFill>
                <a:effectLst/>
                <a:uFillTx/>
                <a:latin typeface="Calibri"/>
              </a:rPr>
              <a:t> Implement SQL local databases for field healthcare workers in remote areas.</a:t>
            </a:r>
            <a:endParaRPr lang="en-IN" sz="1300" b="0" u="none" strike="noStrike">
              <a:solidFill>
                <a:srgbClr val="000000"/>
              </a:solidFill>
              <a:effectLst/>
              <a:uFillTx/>
              <a:latin typeface="Arial"/>
            </a:endParaRPr>
          </a:p>
          <a:p>
            <a:pPr marL="457200" defTabSz="457200">
              <a:lnSpc>
                <a:spcPct val="100000"/>
              </a:lnSpc>
              <a:spcAft>
                <a:spcPts val="799"/>
              </a:spcAft>
            </a:pPr>
            <a:r>
              <a:rPr lang="en-US" sz="1300" b="0" u="none" strike="noStrike">
                <a:solidFill>
                  <a:srgbClr val="3C3C3C"/>
                </a:solidFill>
                <a:effectLst/>
                <a:uFillTx/>
                <a:latin typeface="Calibri"/>
              </a:rPr>
              <a:t>- </a:t>
            </a:r>
            <a:r>
              <a:rPr lang="en-US" sz="1300" b="1" u="none" strike="noStrike">
                <a:solidFill>
                  <a:srgbClr val="142850"/>
                </a:solidFill>
                <a:effectLst/>
                <a:uFillTx/>
                <a:latin typeface="Calibri"/>
              </a:rPr>
              <a:t>Interactive GIS Dashboard:</a:t>
            </a:r>
            <a:r>
              <a:rPr lang="en-US" sz="1300" b="0" u="none" strike="noStrike">
                <a:solidFill>
                  <a:srgbClr val="3C3C3C"/>
                </a:solidFill>
                <a:effectLst/>
                <a:uFillTx/>
                <a:latin typeface="Calibri"/>
              </a:rPr>
              <a:t> Deploy model predictions on a web interface with geo-mapping overlays.</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TotalTime>
  <Application>LibreOffice/26.2.4.2$Windows_X86_64 LibreOffice_project/0229ac93fcf0d7cbc6376066c6f35021cef002dc</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en-IN</dc:language>
  <cp:lastModifiedBy/>
  <dcterms:modified xsi:type="dcterms:W3CDTF">2026-06-25T12:36:26Z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